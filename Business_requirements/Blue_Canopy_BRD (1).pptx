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193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slide. Blue Canopy is the database name (Blue_canopy on SQL Server junior). This BRD covers the full retail analytics data warehouse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Executive summary. The project covers the full data pipeline from raw source tables through to Power BI dashboards.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statement and business context. The Kenyan retail setting differentiates this project from generic e-commerce demos.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core project objectives spanning technical, analytical and portfolio goals.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Clearly defined scope boundaries. The out-of-scope items are important for managing expectations with recruiters and reviewers.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Medallion Architecture overview. Each layer serves a distinct purpose. Bronze is never exposed to end users. Silver is the QA-cleared layer. Gold is the only layer Power BI connects 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29 source tables organised by business domain. These are the Bronze Layer tables that feed through the Silver transformation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Silver layer transformations. These 8 categories of transformation are applied across all 29 source tables before any Gold Layer build begins.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Gold Layer object inventory. This is what actually exists in your Power BI model based on the model.bim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data marts plan. Each mart is a separate Power BI dataset (semantic model) targeting a specific business audience.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 core business requirements mapped by domain. These drive the Gold Layer table designs and Power BI measure definitions.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Stakeholder matrix. 12 data consumer roles mapped to data marts, reports and access frequency.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governance standards covering naming, quality flags, SCD-2, surrogate keys, documentation and Power BI model standards.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Technical architecture. All data flows from SQL Server Bronze through Silver transformations to the Gold schema, then into Power BI via Import mode.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5-phase implementation roadmap. Each phase must be completed before the next begins. Phase 5 (Power BI) cannot start until Phase 2 is complete and validated.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Risk register based on actual model.bim analysis. Items marked "Confirmed" are real issues found in the current model that need remediation.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Success criteria and acceptance criteria across 6 categories. These are the measurable conditions that define project completion.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The interview quotes are specific talking points derived from actual project decisions — not generic statements.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0A0A14"/>
          </a:solidFill>
          <a:ln w="12700">
            <a:solidFill>
              <a:srgbClr val="0A0A1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1097280"/>
            <a:ext cx="4572000" cy="4572000"/>
          </a:xfrm>
          <a:prstGeom prst="ellipse">
            <a:avLst/>
          </a:prstGeom>
          <a:solidFill>
            <a:srgbClr val="00F5FF">
              <a:alpha val="6000"/>
            </a:srgbClr>
          </a:solidFill>
          <a:ln w="12700">
            <a:solidFill>
              <a:srgbClr val="00F5FF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1737360"/>
            <a:ext cx="3200400" cy="3200400"/>
          </a:xfrm>
          <a:prstGeom prst="ellipse">
            <a:avLst/>
          </a:prstGeom>
          <a:solidFill>
            <a:srgbClr val="BF00FF">
              <a:alpha val="8000"/>
            </a:srgbClr>
          </a:solidFill>
          <a:ln w="12700">
            <a:solidFill>
              <a:srgbClr val="BF00FF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00F5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BLUE CANOPY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87452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8E8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Retail Analytics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65760" y="28346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BF0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Requirements Document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65760" y="3401568"/>
            <a:ext cx="5029200" cy="0"/>
          </a:xfrm>
          <a:prstGeom prst="line">
            <a:avLst/>
          </a:prstGeom>
          <a:noFill/>
          <a:ln w="12700">
            <a:solidFill>
              <a:srgbClr val="2A2A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520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9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Data Warehouse Solution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7673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9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 Server · Medallion Architecture · Power BI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40050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9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Kenya Retail Market  ·  29 Source Tables  ·  5 Data Marts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4663440"/>
            <a:ext cx="1188720" cy="228600"/>
          </a:xfrm>
          <a:prstGeom prst="roundRect">
            <a:avLst>
              <a:gd name="adj" fmla="val 16000"/>
            </a:avLst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46634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F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Version 1.0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1645920" y="4663440"/>
            <a:ext cx="1188720" cy="228600"/>
          </a:xfrm>
          <a:prstGeom prst="roundRect">
            <a:avLst>
              <a:gd name="adj" fmla="val 16000"/>
            </a:avLst>
          </a:prstGeom>
          <a:solidFill>
            <a:srgbClr val="BF00FF"/>
          </a:solidFill>
          <a:ln w="12700">
            <a:solidFill>
              <a:srgbClr val="BF00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45920" y="46634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BF0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Learning Portfolio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926080" y="4663440"/>
            <a:ext cx="1188720" cy="228600"/>
          </a:xfrm>
          <a:prstGeom prst="roundRect">
            <a:avLst>
              <a:gd name="adj" fmla="val 16000"/>
            </a:avLst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0" y="46634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D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2024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03136"/>
            <a:ext cx="12161520" cy="54864"/>
          </a:xfrm>
          <a:prstGeom prst="rect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E8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9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overview at a glance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12700">
            <a:solidFill>
              <a:srgbClr val="2A2A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88720"/>
            <a:ext cx="1737360" cy="914400"/>
          </a:xfrm>
          <a:prstGeom prst="rect">
            <a:avLst/>
          </a:prstGeom>
          <a:solidFill>
            <a:srgbClr val="13131F"/>
          </a:solidFill>
          <a:ln w="19050">
            <a:solidFill>
              <a:srgbClr val="00F5FF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" y="1280160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F5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29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38912" y="1664208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9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 Tables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09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Bronze Layer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67712" y="1188720"/>
            <a:ext cx="1737360" cy="914400"/>
          </a:xfrm>
          <a:prstGeom prst="rect">
            <a:avLst/>
          </a:prstGeom>
          <a:solidFill>
            <a:srgbClr val="13131F"/>
          </a:solidFill>
          <a:ln w="19050">
            <a:solidFill>
              <a:srgbClr val="BF00FF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377440" y="1280160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BF00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340864" y="1664208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9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Marts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09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69664" y="1188720"/>
            <a:ext cx="1737360" cy="914400"/>
          </a:xfrm>
          <a:prstGeom prst="rect">
            <a:avLst/>
          </a:prstGeom>
          <a:solidFill>
            <a:srgbClr val="13131F"/>
          </a:solidFill>
          <a:ln w="19050">
            <a:solidFill>
              <a:srgbClr val="00FF88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279392" y="1280160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FF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15+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242816" y="1664208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9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Gold Layer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09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Objects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71616" y="1188720"/>
            <a:ext cx="1737360" cy="914400"/>
          </a:xfrm>
          <a:prstGeom prst="rect">
            <a:avLst/>
          </a:prstGeom>
          <a:solidFill>
            <a:srgbClr val="13131F"/>
          </a:solidFill>
          <a:ln w="19050">
            <a:solidFill>
              <a:srgbClr val="FFD600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81344" y="1280160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D6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9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144768" y="1664208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9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09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Domains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973568" y="1188720"/>
            <a:ext cx="1737360" cy="914400"/>
          </a:xfrm>
          <a:prstGeom prst="rect">
            <a:avLst/>
          </a:prstGeom>
          <a:solidFill>
            <a:srgbClr val="13131F"/>
          </a:solidFill>
          <a:ln w="19050">
            <a:solidFill>
              <a:srgbClr val="FF2D6B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083296" y="1280160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2D6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30+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8046720" y="1664208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9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Modelling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09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Concepts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875520" y="1188720"/>
            <a:ext cx="1737360" cy="914400"/>
          </a:xfrm>
          <a:prstGeom prst="rect">
            <a:avLst/>
          </a:prstGeom>
          <a:solidFill>
            <a:srgbClr val="13131F"/>
          </a:solidFill>
          <a:ln w="19050">
            <a:solidFill>
              <a:srgbClr val="FF6B00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985248" y="1280160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6B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40+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9948672" y="1664208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9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09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23317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8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" y="263347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Blue Canopy is an end-to-end retail data warehouse built on SQL Server using the Medallion Architecture (Bronze → Silver → Gold). The project ingests 29 source tables covering Sales, Customer, Inventory, Supply Chain, Finance, Marketing, HR and Customer Experience.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65760" y="322783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Gold Layer implements a star schema model with conformed dimensions, SCD Type 2 tracking, junk dimensions, bridge tables and factless fact tables — demonstrating 30+ data modelling concepts in a real-world Kenyan retail context.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65760" y="382219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Five subject-area data marts are served through Power BI, each targeting a specific business audience with pre-built DAX measures, a neon dark theme and an interactive semantic model.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17920" y="1143000"/>
            <a:ext cx="5577840" cy="5349240"/>
          </a:xfrm>
          <a:prstGeom prst="rect">
            <a:avLst/>
          </a:prstGeom>
          <a:solidFill>
            <a:srgbClr val="13131F"/>
          </a:solidFill>
          <a:ln w="19050">
            <a:solidFill>
              <a:srgbClr val="BF00FF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00800" y="132588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BF00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KEY DELIVERABLES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446520" y="1691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📄 Silver Layer Metadata Dictionary (29 tables, 250+ columns)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446520" y="2203704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🏗  Gold Layer Design Blueprint (dimensions, facts, aggregates)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446520" y="271576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5 Power BI Data Marts with DAX measure libraries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446520" y="322783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🗺  DW Bus Matrix (14 facts × 20 dimensions — real model.bim)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446520" y="3739896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🎨 Neon Dark Power BI Theme (Blue Canopy branded)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446520" y="425196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📐 Comprehensive Data Modelling Blueprint (30 concepts)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446520" y="4764024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40+ Analytical Questions by Business Department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446520" y="527608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💾 Complete SQL scripts (gold.fact_pos_sales + all dims)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446520" y="578815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Business Requirements Document (this presentation)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FF2D6B"/>
          </a:solidFill>
          <a:ln w="12700">
            <a:solidFill>
              <a:srgbClr val="FF2D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03136"/>
            <a:ext cx="12161520" cy="54864"/>
          </a:xfrm>
          <a:prstGeom prst="rect">
            <a:avLst/>
          </a:prstGeom>
          <a:solidFill>
            <a:srgbClr val="FF2D6B"/>
          </a:solidFill>
          <a:ln w="12700">
            <a:solidFill>
              <a:srgbClr val="FF2D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E8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Business Context &amp; Problem Statement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9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this project exists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12700">
            <a:solidFill>
              <a:srgbClr val="2A2A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43000"/>
            <a:ext cx="5486400" cy="2560320"/>
          </a:xfrm>
          <a:prstGeom prst="rect">
            <a:avLst/>
          </a:prstGeom>
          <a:solidFill>
            <a:srgbClr val="13131F"/>
          </a:solidFill>
          <a:ln w="19050">
            <a:solidFill>
              <a:srgbClr val="FF2D6B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29844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2D6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6928" y="1737360"/>
            <a:ext cx="73152" cy="73152"/>
          </a:xfrm>
          <a:prstGeom prst="ellipse">
            <a:avLst/>
          </a:prstGeom>
          <a:solidFill>
            <a:srgbClr val="FF2D6B"/>
          </a:solidFill>
          <a:ln w="12700">
            <a:solidFill>
              <a:srgbClr val="FF2D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6642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siloed across 29 source tables with no unified analytical view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66928" y="2039112"/>
            <a:ext cx="73152" cy="73152"/>
          </a:xfrm>
          <a:prstGeom prst="ellipse">
            <a:avLst/>
          </a:prstGeom>
          <a:solidFill>
            <a:srgbClr val="FF2D6B"/>
          </a:solidFill>
          <a:ln w="12700">
            <a:solidFill>
              <a:srgbClr val="FF2D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19659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single source of truth for revenue, margin or customer metrics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66928" y="2340864"/>
            <a:ext cx="73152" cy="73152"/>
          </a:xfrm>
          <a:prstGeom prst="ellipse">
            <a:avLst/>
          </a:prstGeom>
          <a:solidFill>
            <a:srgbClr val="FF2D6B"/>
          </a:solidFill>
          <a:ln w="12700">
            <a:solidFill>
              <a:srgbClr val="FF2D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226771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decisions made from raw, uncleaned transactional data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6928" y="2642616"/>
            <a:ext cx="73152" cy="73152"/>
          </a:xfrm>
          <a:prstGeom prst="ellipse">
            <a:avLst/>
          </a:prstGeom>
          <a:solidFill>
            <a:srgbClr val="FF2D6B"/>
          </a:solidFill>
          <a:ln w="12700">
            <a:solidFill>
              <a:srgbClr val="FF2D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256946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ability to analyse cross-domain trends (e.g. economic impact on sales)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6928" y="2944368"/>
            <a:ext cx="73152" cy="73152"/>
          </a:xfrm>
          <a:prstGeom prst="ellipse">
            <a:avLst/>
          </a:prstGeom>
          <a:solidFill>
            <a:srgbClr val="FF2D6B"/>
          </a:solidFill>
          <a:ln w="12700">
            <a:solidFill>
              <a:srgbClr val="FF2D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287121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Loyalty, CX, HR and Finance data never integrated into one model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66928" y="3246120"/>
            <a:ext cx="73152" cy="73152"/>
          </a:xfrm>
          <a:prstGeom prst="ellipse">
            <a:avLst/>
          </a:prstGeom>
          <a:solidFill>
            <a:srgbClr val="FF2D6B"/>
          </a:solidFill>
          <a:ln w="12700">
            <a:solidFill>
              <a:srgbClr val="FF2D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31729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historical tracking — SCD changes lost when source data overwritten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217920" y="1143000"/>
            <a:ext cx="5577840" cy="2560320"/>
          </a:xfrm>
          <a:prstGeom prst="rect">
            <a:avLst/>
          </a:prstGeom>
          <a:solidFill>
            <a:srgbClr val="13131F"/>
          </a:solidFill>
          <a:ln w="19050">
            <a:solidFill>
              <a:srgbClr val="00FF88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0" y="129844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FF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19088" y="1737360"/>
            <a:ext cx="73152" cy="73152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65392" y="16642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Medallion Architecture — Bronze → Silver → Gold — single source of truth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419088" y="2039112"/>
            <a:ext cx="73152" cy="73152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65392" y="1965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Gold Layer star schema with conformed dimensions across all 5 marts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419088" y="2340864"/>
            <a:ext cx="73152" cy="73152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65392" y="226771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SCD Type 2 on products, stores, employees — full historical accuracy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419088" y="2642616"/>
            <a:ext cx="73152" cy="73152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65392" y="25694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Macro-economic and geospatial context integrated into the model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419088" y="2944368"/>
            <a:ext cx="73152" cy="73152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65392" y="28712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Unified customer view: CRM + Loyalty + CX + Demographics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419088" y="3246120"/>
            <a:ext cx="73152" cy="73152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65392" y="31729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BI with pre-built DAX measures for each business domain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65760" y="3931920"/>
            <a:ext cx="11430000" cy="2514600"/>
          </a:xfrm>
          <a:prstGeom prst="rect">
            <a:avLst/>
          </a:prstGeom>
          <a:solidFill>
            <a:srgbClr val="13131F"/>
          </a:solidFill>
          <a:ln w="19050">
            <a:solidFill>
              <a:srgbClr val="FFD600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48640" y="40873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D6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BUSINESS CONTEXT — KENYA RETAIL MARKET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48640" y="440740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D6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Currency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48640" y="4608576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amounts in KES (Kenyan Shillings). USD/KES exchange rate tracked in economic data for import cost analysis.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401568" y="440740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D6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Geography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401568" y="4608576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47 Kenyan counties with GIS coordinates, population and avg income. Stores and customers mapped to county level.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254496" y="440740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D6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Payments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254496" y="4608576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M-Pesa, Card, Cash and Gift Card payment channels — reflecting Kenyan consumer payment preferences.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9107424" y="440740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D6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Economy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107424" y="4608576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County-level macro indicators (GDP, inflation, unemployment, consumer confidence) integrated for correlation analysis.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03136"/>
            <a:ext cx="12161520" cy="54864"/>
          </a:xfrm>
          <a:prstGeom prst="rect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E8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Project Objectives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9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success looks like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12700">
            <a:solidFill>
              <a:srgbClr val="2A2A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43000"/>
            <a:ext cx="5577840" cy="1737360"/>
          </a:xfrm>
          <a:prstGeom prst="rect">
            <a:avLst/>
          </a:prstGeom>
          <a:solidFill>
            <a:srgbClr val="13131F"/>
          </a:solidFill>
          <a:ln w="19050">
            <a:solidFill>
              <a:srgbClr val="00F5FF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143000"/>
            <a:ext cx="502920" cy="1737360"/>
          </a:xfrm>
          <a:prstGeom prst="rect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1801368"/>
            <a:ext cx="429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F5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87552" y="125272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F5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Unified Data Foundation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87552" y="1545336"/>
            <a:ext cx="4800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a clean, governed Silver Layer from 29 raw Bronze tables — standardised data types, quality flags (PASS/WARN/FAIL), resolved duplicates and enriched derived columns.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63640" y="1143000"/>
            <a:ext cx="5577840" cy="1737360"/>
          </a:xfrm>
          <a:prstGeom prst="rect">
            <a:avLst/>
          </a:prstGeom>
          <a:solidFill>
            <a:srgbClr val="13131F"/>
          </a:solidFill>
          <a:ln w="19050">
            <a:solidFill>
              <a:srgbClr val="BF00FF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63640" y="1143000"/>
            <a:ext cx="502920" cy="1737360"/>
          </a:xfrm>
          <a:prstGeom prst="rect">
            <a:avLst/>
          </a:prstGeom>
          <a:solidFill>
            <a:srgbClr val="BF00FF"/>
          </a:solidFill>
          <a:ln w="12700">
            <a:solidFill>
              <a:srgbClr val="BF00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0216" y="1801368"/>
            <a:ext cx="429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F00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885432" y="125272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F00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Analytics-Ready Gold Layer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85432" y="1545336"/>
            <a:ext cx="4800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and build a star schema Gold Layer with conformed dimensions, SCD-2 history, junk dimensions, bridge tables and factless facts — implementing 30+ data modelling patterns.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3017520"/>
            <a:ext cx="5577840" cy="1737360"/>
          </a:xfrm>
          <a:prstGeom prst="rect">
            <a:avLst/>
          </a:prstGeom>
          <a:solidFill>
            <a:srgbClr val="13131F"/>
          </a:solidFill>
          <a:ln w="19050">
            <a:solidFill>
              <a:srgbClr val="00FF88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017520"/>
            <a:ext cx="502920" cy="173736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" y="3675888"/>
            <a:ext cx="429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FF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87552" y="312724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FF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Cross-Domain Insight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87552" y="3419856"/>
            <a:ext cx="4800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Enable analysis that crosses departmental boundaries — linking Sales, Customer, Inventory, Finance, HR and Marketing data through conformed dimensions and a constellation schema.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263640" y="3017520"/>
            <a:ext cx="5577840" cy="1737360"/>
          </a:xfrm>
          <a:prstGeom prst="rect">
            <a:avLst/>
          </a:prstGeom>
          <a:solidFill>
            <a:srgbClr val="13131F"/>
          </a:solidFill>
          <a:ln w="19050">
            <a:solidFill>
              <a:srgbClr val="FFD600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63640" y="3017520"/>
            <a:ext cx="502920" cy="1737360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0216" y="3675888"/>
            <a:ext cx="429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D6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885432" y="312724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6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Power BI Data Marts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85432" y="3419856"/>
            <a:ext cx="4800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 5 subject-area data marts in Power BI with pre-built DAX measures, inactive relationships via USERELATIONSHIP(), and a branded neon dark theme.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4892040"/>
            <a:ext cx="5577840" cy="1737360"/>
          </a:xfrm>
          <a:prstGeom prst="rect">
            <a:avLst/>
          </a:prstGeom>
          <a:solidFill>
            <a:srgbClr val="13131F"/>
          </a:solidFill>
          <a:ln w="19050">
            <a:solidFill>
              <a:srgbClr val="FF2D6B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4892040"/>
            <a:ext cx="502920" cy="1737360"/>
          </a:xfrm>
          <a:prstGeom prst="rect">
            <a:avLst/>
          </a:prstGeom>
          <a:solidFill>
            <a:srgbClr val="FF2D6B"/>
          </a:solidFill>
          <a:ln w="12700">
            <a:solidFill>
              <a:srgbClr val="FF2D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2336" y="5550408"/>
            <a:ext cx="429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2D6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05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987552" y="500176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2D6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Portfolio-Grade Documentation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87552" y="5294376"/>
            <a:ext cx="4800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Produce a metadata dictionary, gold layer blueprint, data modelling blueprint, bus matrix, analytical question bank and this BRD — demonstrating data governance maturity.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263640" y="4892040"/>
            <a:ext cx="5577840" cy="1737360"/>
          </a:xfrm>
          <a:prstGeom prst="rect">
            <a:avLst/>
          </a:prstGeom>
          <a:solidFill>
            <a:srgbClr val="13131F"/>
          </a:solidFill>
          <a:ln w="19050">
            <a:solidFill>
              <a:srgbClr val="FF6B00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63640" y="4892040"/>
            <a:ext cx="502920" cy="173736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0216" y="5550408"/>
            <a:ext cx="429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6B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06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6885432" y="500176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Learning Objectives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85432" y="5294376"/>
            <a:ext cx="4800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Demonstrate mastery of Medallion Architecture, Kimball dimensional modelling, SQL Server ETL, Power BI semantic modelling and data governance for career advancement into senior BI roles.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03136"/>
            <a:ext cx="12161520" cy="54864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E8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Project Scope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9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and is not included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12700">
            <a:solidFill>
              <a:srgbClr val="2A2A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6888" y="1037844"/>
            <a:ext cx="5486400" cy="5349240"/>
          </a:xfrm>
          <a:prstGeom prst="rect">
            <a:avLst/>
          </a:prstGeom>
          <a:solidFill>
            <a:srgbClr val="13131F"/>
          </a:solidFill>
          <a:ln w="19050">
            <a:solidFill>
              <a:srgbClr val="00FF88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48640" y="129844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FF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✅  IN SCOPE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16916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FF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Silver Layer: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121408" y="169164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29 source tables — cleaning, typing, enrichment, quality flags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66928" y="19659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FF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Gold Layer: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121408" y="196596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Dimensions (8), Facts (9+), Aggregates (3), Bridge (1), Junk Dims (4)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66928" y="22402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FF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dim_date: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121408" y="224028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SQL date spine 2018–2027 with Kenyan public holidays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66928" y="25146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FF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SCD Type 2: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121408" y="251460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Products, Stores, Employees — full version history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66928" y="27889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FF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Power BI Model: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121408" y="278892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data marts, DAX measures, inactive relationships, import mode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66928" y="30632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FF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Documentation: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121408" y="306324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Metadata dict, Gold blueprint, Modelling blueprint, Bus matrix, BRD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66928" y="33375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FF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 Quality: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121408" y="333756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Silver quality_flag (PASS/WARN/FAIL) propagated to Gold FAIL exclusion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66928" y="36118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FF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Walk-in Customers: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121408" y="361188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Unknown member (SK=-1) pattern for unidentified POS customers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66928" y="38862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FF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Junk Dimensions: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121408" y="388620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E-commerce, PO orders, goods receipts, customer experience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66928" y="41605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FF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Factless Fact: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121408" y="416052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Promotion × Product coverage table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66928" y="44348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FF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Campaign Fact: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121408" y="443484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Budget &amp; spend measures separated from dim_campaign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66928" y="47091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FF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Competitor Analysis: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121408" y="470916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Competitor performance + store location dimensions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66928" y="49834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FF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Economic Data: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121408" y="498348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County-level macro indicators as analytical fact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66928" y="52578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FF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Theme: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121408" y="525780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Neon dark Power BI theme (Blue Canopy brand) — JSON delivered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217920" y="1143000"/>
            <a:ext cx="5577840" cy="5349240"/>
          </a:xfrm>
          <a:prstGeom prst="rect">
            <a:avLst/>
          </a:prstGeom>
          <a:solidFill>
            <a:srgbClr val="13131F"/>
          </a:solidFill>
          <a:ln w="19050">
            <a:solidFill>
              <a:srgbClr val="FF2D6B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400800" y="129844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2D6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❌  OUT OF SCOPE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19088" y="169164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2D6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Real-time streaming: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019288" y="16916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data loaded in batch — no Kafka, Event Hub or streaming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419088" y="202082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2D6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Azure/Cloud deploy: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8019288" y="202082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On-premise SQL Server (junior) only — no cloud migration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419088" y="235000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2D6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Production ETL: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8019288" y="235000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Stored procedures provided but no SQL Agent scheduling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419088" y="279349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2D6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Import mode: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8019288" y="283692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tables in Import mode — no DirectQuery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419088" y="33375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2D6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 Vault: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8019288" y="33375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Kimball star schema chosen; Data Vault not implemented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419088" y="366674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2D6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Mobile reports: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8019288" y="366674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 designed for desktop Power BI only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419088" y="399592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2D6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Automated testing: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8019288" y="399592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dbt tests or automated data quality pipelines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419088" y="432511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2D6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API integration: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8019288" y="432511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data sourced from SQL Server — no REST API connectors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6419088" y="465429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2D6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ML/AI features: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8019288" y="465429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Python/R visuals, no AutoML, no Copilot integration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6419088" y="498348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2D6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Multi-currency: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8019288" y="49834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KES primary currency; USD conversion is a DAX measure only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6419088" y="531266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2D6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Source system changes: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8019288" y="531266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Bronze layer assumed static — no CDC tracking</a:t>
            </a:r>
            <a:endParaRPr lang="en-US" sz="850" dirty="0"/>
          </a:p>
        </p:txBody>
      </p:sp>
      <p:sp>
        <p:nvSpPr>
          <p:cNvPr id="64" name="Text 43">
            <a:extLst>
              <a:ext uri="{FF2B5EF4-FFF2-40B4-BE49-F238E27FC236}">
                <a16:creationId xmlns:a16="http://schemas.microsoft.com/office/drawing/2014/main" id="{297897DC-A6A0-2CB7-73FB-5CF16DD412A6}"/>
              </a:ext>
            </a:extLst>
          </p:cNvPr>
          <p:cNvSpPr/>
          <p:nvPr/>
        </p:nvSpPr>
        <p:spPr>
          <a:xfrm>
            <a:off x="566928" y="5696710"/>
            <a:ext cx="1332992" cy="192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B05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Row-Level Security</a:t>
            </a:r>
            <a:r>
              <a:rPr lang="en-US" sz="850" b="1" dirty="0">
                <a:solidFill>
                  <a:srgbClr val="FF2D6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:</a:t>
            </a:r>
            <a:endParaRPr lang="en-US" sz="850" dirty="0"/>
          </a:p>
        </p:txBody>
      </p:sp>
      <p:sp>
        <p:nvSpPr>
          <p:cNvPr id="66" name="Text 44">
            <a:extLst>
              <a:ext uri="{FF2B5EF4-FFF2-40B4-BE49-F238E27FC236}">
                <a16:creationId xmlns:a16="http://schemas.microsoft.com/office/drawing/2014/main" id="{D76B7D66-D0FD-12F7-A6D8-D5127C5AE325}"/>
              </a:ext>
            </a:extLst>
          </p:cNvPr>
          <p:cNvSpPr/>
          <p:nvPr/>
        </p:nvSpPr>
        <p:spPr>
          <a:xfrm>
            <a:off x="2121408" y="567842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RLS implemented in Power BI semantic model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BF00FF"/>
          </a:solidFill>
          <a:ln w="12700">
            <a:solidFill>
              <a:srgbClr val="BF00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03136"/>
            <a:ext cx="12161520" cy="54864"/>
          </a:xfrm>
          <a:prstGeom prst="rect">
            <a:avLst/>
          </a:prstGeom>
          <a:solidFill>
            <a:srgbClr val="BF00FF"/>
          </a:solidFill>
          <a:ln w="12700">
            <a:solidFill>
              <a:srgbClr val="BF00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E8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Solution Architecture — Medallion Approach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9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Bronze → Silver → Gold → Power BI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12700">
            <a:solidFill>
              <a:srgbClr val="2A2A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43000"/>
            <a:ext cx="3246120" cy="5349240"/>
          </a:xfrm>
          <a:prstGeom prst="rect">
            <a:avLst/>
          </a:prstGeom>
          <a:solidFill>
            <a:srgbClr val="13131F"/>
          </a:solidFill>
          <a:ln w="19050">
            <a:solidFill>
              <a:srgbClr val="FF6B00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143000"/>
            <a:ext cx="3246120" cy="59436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1887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6B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BRONZE LAYER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5488" y="144475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9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Raw Ingest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75488" y="18745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 source tables loaded as-is from the operational system. No transformations. Preserves original data for full auditability and re-processing.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75488" y="2944368"/>
            <a:ext cx="3017520" cy="0"/>
          </a:xfrm>
          <a:prstGeom prst="line">
            <a:avLst/>
          </a:prstGeom>
          <a:noFill/>
          <a:ln w="12700">
            <a:solidFill>
              <a:srgbClr val="2A2A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3118104"/>
            <a:ext cx="64008" cy="64008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05409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Raw transactional data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02920" y="3502152"/>
            <a:ext cx="64008" cy="64008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43814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Original data types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" y="3886200"/>
            <a:ext cx="64008" cy="64008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82219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quality enforcement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02920" y="4270248"/>
            <a:ext cx="64008" cy="64008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2062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 system schema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02920" y="4654296"/>
            <a:ext cx="64008" cy="64008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59028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trail preserved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39312" y="3383280"/>
            <a:ext cx="201168" cy="9144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39312" y="33284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6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▶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108960" y="1143000"/>
            <a:ext cx="3246120" cy="5349240"/>
          </a:xfrm>
          <a:prstGeom prst="rect">
            <a:avLst/>
          </a:prstGeom>
          <a:solidFill>
            <a:srgbClr val="13131F"/>
          </a:solidFill>
          <a:ln w="19050">
            <a:solidFill>
              <a:srgbClr val="FFD600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08960" y="1143000"/>
            <a:ext cx="3246120" cy="594360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18688" y="11887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D6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SILVER LAYER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18688" y="144475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9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Cleaned &amp; Enriched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218688" y="18745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29 tables transformed: correct data types, derived columns, quality flags (PASS/WARN/FAIL), deduplication, SCD-2 valid_from/valid_to added.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18688" y="2944368"/>
            <a:ext cx="3017520" cy="0"/>
          </a:xfrm>
          <a:prstGeom prst="line">
            <a:avLst/>
          </a:prstGeom>
          <a:noFill/>
          <a:ln w="12700">
            <a:solidFill>
              <a:srgbClr val="2A2A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46120" y="3118104"/>
            <a:ext cx="64008" cy="64008"/>
          </a:xfrm>
          <a:prstGeom prst="ellipse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83280" y="305409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Standardised data types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46120" y="3502152"/>
            <a:ext cx="64008" cy="64008"/>
          </a:xfrm>
          <a:prstGeom prst="ellipse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83280" y="343814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Quality flags on every row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246120" y="3886200"/>
            <a:ext cx="64008" cy="64008"/>
          </a:xfrm>
          <a:prstGeom prst="ellipse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83280" y="382219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Derived columns (age, tenure)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246120" y="4270248"/>
            <a:ext cx="64008" cy="64008"/>
          </a:xfrm>
          <a:prstGeom prst="ellipse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83280" y="42062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Deduplication applied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246120" y="4654296"/>
            <a:ext cx="64008" cy="64008"/>
          </a:xfrm>
          <a:prstGeom prst="ellipse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83280" y="459028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SCD-2 lifecycle columns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382512" y="3383280"/>
            <a:ext cx="201168" cy="91440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82512" y="33284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D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▶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852160" y="1143000"/>
            <a:ext cx="3246120" cy="5349240"/>
          </a:xfrm>
          <a:prstGeom prst="rect">
            <a:avLst/>
          </a:prstGeom>
          <a:solidFill>
            <a:srgbClr val="13131F"/>
          </a:solidFill>
          <a:ln w="19050">
            <a:solidFill>
              <a:srgbClr val="00F5FF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852160" y="1143000"/>
            <a:ext cx="3246120" cy="594360"/>
          </a:xfrm>
          <a:prstGeom prst="rect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61888" y="11887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F5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GOLD LAYER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961888" y="144475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9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Analytics-Ready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961888" y="18745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 schema dimensional model. Conformed dimensions, surrogate keys, junk dims, bridge tables. One schema per business domain.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961888" y="2944368"/>
            <a:ext cx="3017520" cy="0"/>
          </a:xfrm>
          <a:prstGeom prst="line">
            <a:avLst/>
          </a:prstGeom>
          <a:noFill/>
          <a:ln w="12700">
            <a:solidFill>
              <a:srgbClr val="2A2A3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989320" y="3118104"/>
            <a:ext cx="64008" cy="64008"/>
          </a:xfrm>
          <a:prstGeom prst="ellipse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26480" y="305409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 schema design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989320" y="3502152"/>
            <a:ext cx="64008" cy="64008"/>
          </a:xfrm>
          <a:prstGeom prst="ellipse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26480" y="343814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Surrogate keys (INT)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989320" y="3886200"/>
            <a:ext cx="64008" cy="64008"/>
          </a:xfrm>
          <a:prstGeom prst="ellipse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26480" y="382219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Conformed dimensions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5989320" y="4270248"/>
            <a:ext cx="64008" cy="64008"/>
          </a:xfrm>
          <a:prstGeom prst="ellipse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26480" y="42062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dim + 9 fact + 3 agg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5989320" y="4654296"/>
            <a:ext cx="64008" cy="64008"/>
          </a:xfrm>
          <a:prstGeom prst="ellipse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126480" y="459028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Bridge &amp; junk tables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9125712" y="3383280"/>
            <a:ext cx="201168" cy="91440"/>
          </a:xfrm>
          <a:prstGeom prst="rect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125712" y="33284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F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▶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8595360" y="1143000"/>
            <a:ext cx="3246120" cy="5349240"/>
          </a:xfrm>
          <a:prstGeom prst="rect">
            <a:avLst/>
          </a:prstGeom>
          <a:solidFill>
            <a:srgbClr val="13131F"/>
          </a:solidFill>
          <a:ln w="19050">
            <a:solidFill>
              <a:srgbClr val="BF00FF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8595360" y="1143000"/>
            <a:ext cx="3246120" cy="594360"/>
          </a:xfrm>
          <a:prstGeom prst="rect">
            <a:avLst/>
          </a:prstGeom>
          <a:solidFill>
            <a:srgbClr val="BF00FF"/>
          </a:solidFill>
          <a:ln w="12700">
            <a:solidFill>
              <a:srgbClr val="BF00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705088" y="11887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BF00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POWER BI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8705088" y="144475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9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Marts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8705088" y="18745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semantic models connected to the Gold schema via Import mode. Pre-built DAX measures, neon dark theme, inactive relationships.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8705088" y="2944368"/>
            <a:ext cx="3017520" cy="0"/>
          </a:xfrm>
          <a:prstGeom prst="line">
            <a:avLst/>
          </a:prstGeom>
          <a:noFill/>
          <a:ln w="12700">
            <a:solidFill>
              <a:srgbClr val="2A2A3D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732520" y="3118104"/>
            <a:ext cx="64008" cy="64008"/>
          </a:xfrm>
          <a:prstGeom prst="ellipse">
            <a:avLst/>
          </a:prstGeom>
          <a:solidFill>
            <a:srgbClr val="BF00FF"/>
          </a:solidFill>
          <a:ln w="12700">
            <a:solidFill>
              <a:srgbClr val="BF00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869680" y="305409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subject-area marts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8732520" y="3502152"/>
            <a:ext cx="64008" cy="64008"/>
          </a:xfrm>
          <a:prstGeom prst="ellipse">
            <a:avLst/>
          </a:prstGeom>
          <a:solidFill>
            <a:srgbClr val="BF00FF"/>
          </a:solidFill>
          <a:ln w="12700">
            <a:solidFill>
              <a:srgbClr val="BF00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869680" y="343814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DAX measure library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8732520" y="3886200"/>
            <a:ext cx="64008" cy="64008"/>
          </a:xfrm>
          <a:prstGeom prst="ellipse">
            <a:avLst/>
          </a:prstGeom>
          <a:solidFill>
            <a:srgbClr val="BF00FF"/>
          </a:solidFill>
          <a:ln w="12700">
            <a:solidFill>
              <a:srgbClr val="BF00F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869680" y="382219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Import mode (fast)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8732520" y="4270248"/>
            <a:ext cx="64008" cy="64008"/>
          </a:xfrm>
          <a:prstGeom prst="ellipse">
            <a:avLst/>
          </a:prstGeom>
          <a:solidFill>
            <a:srgbClr val="BF00FF"/>
          </a:solidFill>
          <a:ln w="12700">
            <a:solidFill>
              <a:srgbClr val="BF00F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869680" y="42062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Neon dark theme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8732520" y="4654296"/>
            <a:ext cx="64008" cy="64008"/>
          </a:xfrm>
          <a:prstGeom prst="ellipse">
            <a:avLst/>
          </a:prstGeom>
          <a:solidFill>
            <a:srgbClr val="BF00FF"/>
          </a:solidFill>
          <a:ln w="12700">
            <a:solidFill>
              <a:srgbClr val="BF00F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869680" y="459028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Role-playing dims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03136"/>
            <a:ext cx="12161520" cy="54864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E8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Source Systems — 29 Bronze Layer Tables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9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Domain coverage across the retail business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12700">
            <a:solidFill>
              <a:srgbClr val="2A2A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43000"/>
            <a:ext cx="3749040" cy="1298448"/>
          </a:xfrm>
          <a:prstGeom prst="rect">
            <a:avLst/>
          </a:prstGeom>
          <a:solidFill>
            <a:srgbClr val="13131F"/>
          </a:solidFill>
          <a:ln w="19050">
            <a:solidFill>
              <a:srgbClr val="00FF88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" y="123444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00FF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SALES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75488" y="1453896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09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tables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75488" y="1673352"/>
            <a:ext cx="3520440" cy="0"/>
          </a:xfrm>
          <a:prstGeom prst="line">
            <a:avLst/>
          </a:prstGeom>
          <a:noFill/>
          <a:ln w="6350">
            <a:solidFill>
              <a:srgbClr val="2A2A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737360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pos_transactions  ·  pos_line_items  ·  ecommerce_orders  ·  ecommerce_order_lines  ·  returns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297680" y="1143000"/>
            <a:ext cx="3749040" cy="1298448"/>
          </a:xfrm>
          <a:prstGeom prst="rect">
            <a:avLst/>
          </a:prstGeom>
          <a:solidFill>
            <a:srgbClr val="13131F"/>
          </a:solidFill>
          <a:ln w="19050">
            <a:solidFill>
              <a:srgbClr val="BF00FF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407408" y="123444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BF00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CUSTOMER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407408" y="1453896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09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tables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407408" y="1673352"/>
            <a:ext cx="3520440" cy="0"/>
          </a:xfrm>
          <a:prstGeom prst="line">
            <a:avLst/>
          </a:prstGeom>
          <a:noFill/>
          <a:ln w="6350">
            <a:solidFill>
              <a:srgbClr val="2A2A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07408" y="1737360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crm  ·  feedback  ·  service_interactions  ·  loyalty_transactions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8229600" y="1143000"/>
            <a:ext cx="3749040" cy="1298448"/>
          </a:xfrm>
          <a:prstGeom prst="rect">
            <a:avLst/>
          </a:prstGeom>
          <a:solidFill>
            <a:srgbClr val="13131F"/>
          </a:solidFill>
          <a:ln w="19050">
            <a:solidFill>
              <a:srgbClr val="00F5FF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339328" y="123444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00F5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INVENTORY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339328" y="1453896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09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tables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8339328" y="1673352"/>
            <a:ext cx="3520440" cy="0"/>
          </a:xfrm>
          <a:prstGeom prst="line">
            <a:avLst/>
          </a:prstGeom>
          <a:noFill/>
          <a:ln w="6350">
            <a:solidFill>
              <a:srgbClr val="2A2A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39328" y="1737360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inventory_movements  ·  inventory_snapshots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65760" y="2560320"/>
            <a:ext cx="3749040" cy="1298448"/>
          </a:xfrm>
          <a:prstGeom prst="rect">
            <a:avLst/>
          </a:prstGeom>
          <a:solidFill>
            <a:srgbClr val="13131F"/>
          </a:solidFill>
          <a:ln w="19050">
            <a:solidFill>
              <a:srgbClr val="FF2D6B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5488" y="265176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FF2D6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SUPPLY CHAIN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5488" y="2871216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09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tables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75488" y="3090672"/>
            <a:ext cx="3520440" cy="0"/>
          </a:xfrm>
          <a:prstGeom prst="line">
            <a:avLst/>
          </a:prstGeom>
          <a:noFill/>
          <a:ln w="6350">
            <a:solidFill>
              <a:srgbClr val="2A2A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3154680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purchase_orders  ·  purchase_order_lines  ·  goods_receipts  ·  suppliers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297680" y="2560320"/>
            <a:ext cx="3749040" cy="1298448"/>
          </a:xfrm>
          <a:prstGeom prst="rect">
            <a:avLst/>
          </a:prstGeom>
          <a:solidFill>
            <a:srgbClr val="13131F"/>
          </a:solidFill>
          <a:ln w="19050">
            <a:solidFill>
              <a:srgbClr val="FFD600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407408" y="265176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FFD6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FINANCE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407408" y="2871216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09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tables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407408" y="3090672"/>
            <a:ext cx="3520440" cy="0"/>
          </a:xfrm>
          <a:prstGeom prst="line">
            <a:avLst/>
          </a:prstGeom>
          <a:noFill/>
          <a:ln w="6350">
            <a:solidFill>
              <a:srgbClr val="2A2A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07408" y="3154680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gl_transactions  ·  store_daily_financials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8229600" y="2560320"/>
            <a:ext cx="3749040" cy="1298448"/>
          </a:xfrm>
          <a:prstGeom prst="rect">
            <a:avLst/>
          </a:prstGeom>
          <a:solidFill>
            <a:srgbClr val="13131F"/>
          </a:solidFill>
          <a:ln w="19050">
            <a:solidFill>
              <a:srgbClr val="FF6B00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339328" y="265176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FF6B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HR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339328" y="2871216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09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tables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8339328" y="3090672"/>
            <a:ext cx="3520440" cy="0"/>
          </a:xfrm>
          <a:prstGeom prst="line">
            <a:avLst/>
          </a:prstGeom>
          <a:noFill/>
          <a:ln w="6350">
            <a:solidFill>
              <a:srgbClr val="2A2A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39328" y="3154680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  ·  time_tracking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65760" y="3977640"/>
            <a:ext cx="3749040" cy="1298448"/>
          </a:xfrm>
          <a:prstGeom prst="rect">
            <a:avLst/>
          </a:prstGeom>
          <a:solidFill>
            <a:srgbClr val="13131F"/>
          </a:solidFill>
          <a:ln w="19050">
            <a:solidFill>
              <a:srgbClr val="FF00C8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75488" y="406908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FF00C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MARKETING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75488" y="4288536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09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tables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75488" y="4507992"/>
            <a:ext cx="3520440" cy="0"/>
          </a:xfrm>
          <a:prstGeom prst="line">
            <a:avLst/>
          </a:prstGeom>
          <a:noFill/>
          <a:ln w="6350">
            <a:solidFill>
              <a:srgbClr val="2A2A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" y="4572000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campaigns  ·  promotions  ·  promotion_products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297680" y="3977640"/>
            <a:ext cx="3749040" cy="1298448"/>
          </a:xfrm>
          <a:prstGeom prst="rect">
            <a:avLst/>
          </a:prstGeom>
          <a:solidFill>
            <a:srgbClr val="13131F"/>
          </a:solidFill>
          <a:ln w="19050">
            <a:solidFill>
              <a:srgbClr val="00B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407408" y="406908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00B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PAYMENTS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407408" y="4288536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09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tables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407408" y="4507992"/>
            <a:ext cx="3520440" cy="0"/>
          </a:xfrm>
          <a:prstGeom prst="line">
            <a:avLst/>
          </a:prstGeom>
          <a:noFill/>
          <a:ln w="6350">
            <a:solidFill>
              <a:srgbClr val="2A2A3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07408" y="4572000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gift_cards  ·  gift_card_transactions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8229600" y="3977640"/>
            <a:ext cx="3749040" cy="1298448"/>
          </a:xfrm>
          <a:prstGeom prst="rect">
            <a:avLst/>
          </a:prstGeom>
          <a:solidFill>
            <a:srgbClr val="13131F"/>
          </a:solidFill>
          <a:ln w="19050">
            <a:solidFill>
              <a:srgbClr val="A0FF00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8339328" y="406908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A0FF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GEO / MACRO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8339328" y="4288536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09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tables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8339328" y="4507992"/>
            <a:ext cx="3520440" cy="0"/>
          </a:xfrm>
          <a:prstGeom prst="line">
            <a:avLst/>
          </a:prstGeom>
          <a:noFill/>
          <a:ln w="6350">
            <a:solidFill>
              <a:srgbClr val="2A2A3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339328" y="4572000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gis_counties  ·  economic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365760" y="5394960"/>
            <a:ext cx="3749040" cy="1298448"/>
          </a:xfrm>
          <a:prstGeom prst="rect">
            <a:avLst/>
          </a:prstGeom>
          <a:solidFill>
            <a:srgbClr val="13131F"/>
          </a:solidFill>
          <a:ln w="19050">
            <a:solidFill>
              <a:srgbClr val="9090CC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475488" y="548640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9090C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OPERATIONS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75488" y="5705856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09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table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475488" y="5925312"/>
            <a:ext cx="3520440" cy="0"/>
          </a:xfrm>
          <a:prstGeom prst="line">
            <a:avLst/>
          </a:prstGeom>
          <a:noFill/>
          <a:ln w="6350">
            <a:solidFill>
              <a:srgbClr val="2A2A3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5488" y="5989320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stores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4297680" y="5394960"/>
            <a:ext cx="3749040" cy="1298448"/>
          </a:xfrm>
          <a:prstGeom prst="rect">
            <a:avLst/>
          </a:prstGeom>
          <a:solidFill>
            <a:srgbClr val="13131F"/>
          </a:solidFill>
          <a:ln w="19050">
            <a:solidFill>
              <a:srgbClr val="FF2D6B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4407408" y="548640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FF2D6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MARKET INTEL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4407408" y="5705856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09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table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4407408" y="5925312"/>
            <a:ext cx="3520440" cy="0"/>
          </a:xfrm>
          <a:prstGeom prst="line">
            <a:avLst/>
          </a:prstGeom>
          <a:noFill/>
          <a:ln w="6350">
            <a:solidFill>
              <a:srgbClr val="2A2A3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407408" y="5989320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competitor_quarterly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8229600" y="5394960"/>
            <a:ext cx="3749040" cy="1298448"/>
          </a:xfrm>
          <a:prstGeom prst="rect">
            <a:avLst/>
          </a:prstGeom>
          <a:solidFill>
            <a:srgbClr val="13131F"/>
          </a:solidFill>
          <a:ln w="19050">
            <a:solidFill>
              <a:srgbClr val="00F5FF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8339328" y="548640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00F5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PRODUCTS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8339328" y="5705856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09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table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8339328" y="5925312"/>
            <a:ext cx="3520440" cy="0"/>
          </a:xfrm>
          <a:prstGeom prst="line">
            <a:avLst/>
          </a:prstGeom>
          <a:noFill/>
          <a:ln w="6350">
            <a:solidFill>
              <a:srgbClr val="2A2A3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339328" y="5989320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products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03136"/>
            <a:ext cx="12161520" cy="54864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E8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Silver Layer — Data Quality &amp; Transformations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9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happens between Bronze and Gold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12700">
            <a:solidFill>
              <a:srgbClr val="2A2A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43000"/>
            <a:ext cx="5577840" cy="1280160"/>
          </a:xfrm>
          <a:prstGeom prst="rect">
            <a:avLst/>
          </a:prstGeom>
          <a:solidFill>
            <a:srgbClr val="13131F"/>
          </a:solidFill>
          <a:ln w="19050">
            <a:solidFill>
              <a:srgbClr val="FFD600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" y="1216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🔤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51560" y="123444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6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 Type Standardisation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51560" y="1527048"/>
            <a:ext cx="4754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date columns cast to DATE/DATETIME. Money to DECIMAL(12,2). IDs to VARCHAR. Booleans to BIT. Eliminates implicit conversion in Gold joins.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63640" y="1143000"/>
            <a:ext cx="5577840" cy="1280160"/>
          </a:xfrm>
          <a:prstGeom prst="rect">
            <a:avLst/>
          </a:prstGeom>
          <a:solidFill>
            <a:srgbClr val="13131F"/>
          </a:solidFill>
          <a:ln w="19050">
            <a:solidFill>
              <a:srgbClr val="FFD600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73368" y="1216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🚩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949440" y="123444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6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Quality Flags (PASS/WARN/FAIL)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949440" y="1527048"/>
            <a:ext cx="4754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silver table carries a quality_flag column. PASS = fully valid. WARN = minor issue (NULL optionals). FAIL = critical (duplicate PK, broken FK). Gold excludes FAIL rows.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5760" y="2532888"/>
            <a:ext cx="5577840" cy="1280160"/>
          </a:xfrm>
          <a:prstGeom prst="rect">
            <a:avLst/>
          </a:prstGeom>
          <a:solidFill>
            <a:srgbClr val="13131F"/>
          </a:solidFill>
          <a:ln w="19050">
            <a:solidFill>
              <a:srgbClr val="FFD600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🔑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51560" y="262432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6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Deduplication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51560" y="2916936"/>
            <a:ext cx="4754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DUP-suffixed records identified and filtered (e.g. PROMO-0016-DUP, PO-DUP rows). Unique constraints validated. Surrogate keys added where missing.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263640" y="2532888"/>
            <a:ext cx="5577840" cy="1280160"/>
          </a:xfrm>
          <a:prstGeom prst="rect">
            <a:avLst/>
          </a:prstGeom>
          <a:solidFill>
            <a:srgbClr val="13131F"/>
          </a:solidFill>
          <a:ln w="19050">
            <a:solidFill>
              <a:srgbClr val="FFD600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73368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949440" y="262432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6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Date Intelligence Columns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49440" y="2916936"/>
            <a:ext cx="4754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date column generates: year, month, quarter, year_month (YYYY-MM), weekday, hour. Pre-computed to avoid repetitive DAX YEAR()/MONTH() calls in Power BI.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5760" y="3922776"/>
            <a:ext cx="5577840" cy="1280160"/>
          </a:xfrm>
          <a:prstGeom prst="rect">
            <a:avLst/>
          </a:prstGeom>
          <a:solidFill>
            <a:srgbClr val="13131F"/>
          </a:solidFill>
          <a:ln w="19050">
            <a:solidFill>
              <a:srgbClr val="FFD600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5488" y="3995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051560" y="401421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6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Derived HR Metrics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51560" y="4306824"/>
            <a:ext cx="4754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age, generation, full_name, display_name, tenure_days/months/years, tenure_band, retention_risk, salary_band, salary_equity_flag — all computed in silver.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263640" y="3922776"/>
            <a:ext cx="5577840" cy="1280160"/>
          </a:xfrm>
          <a:prstGeom prst="rect">
            <a:avLst/>
          </a:prstGeom>
          <a:solidFill>
            <a:srgbClr val="13131F"/>
          </a:solidFill>
          <a:ln w="19050">
            <a:solidFill>
              <a:srgbClr val="FFD600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373368" y="3995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949440" y="401421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6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Financial Calculations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49440" y="4306824"/>
            <a:ext cx="4754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gross_profit, margin_percentage, discount_tier, line_value_tier, budget_utilisation_pct — derived at silver so Gold can aggregate directly without recalculation.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65760" y="5312664"/>
            <a:ext cx="5577840" cy="1280160"/>
          </a:xfrm>
          <a:prstGeom prst="rect">
            <a:avLst/>
          </a:prstGeom>
          <a:solidFill>
            <a:srgbClr val="13131F"/>
          </a:solidFill>
          <a:ln w="19050">
            <a:solidFill>
              <a:srgbClr val="FFD600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5488" y="53858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1051560" y="540410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6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SCD-2 Lifecycle Columns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51560" y="5696712"/>
            <a:ext cx="4754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valid_from, valid_to, is_current_version added to products, stores, suppliers, hr. Enables Gold to perform date-range joins for historically accurate reporting.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263640" y="5312664"/>
            <a:ext cx="5577840" cy="1280160"/>
          </a:xfrm>
          <a:prstGeom prst="rect">
            <a:avLst/>
          </a:prstGeom>
          <a:solidFill>
            <a:srgbClr val="13131F"/>
          </a:solidFill>
          <a:ln w="19050">
            <a:solidFill>
              <a:srgbClr val="FFD600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373368" y="53858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949440" y="540410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6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Geographic Enrichment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949440" y="5696712"/>
            <a:ext cx="4754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Stores enriched with county latitude/longitude from gis_counties. Customers tagged with county_key. Economic indicators linked to county for macro-economic analysis.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03136"/>
            <a:ext cx="12161520" cy="54864"/>
          </a:xfrm>
          <a:prstGeom prst="rect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E8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Gold Layer — Dimensional Model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9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analytics-ready star schema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12700">
            <a:solidFill>
              <a:srgbClr val="2A2A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43000"/>
            <a:ext cx="3730752" cy="2606040"/>
          </a:xfrm>
          <a:prstGeom prst="rect">
            <a:avLst/>
          </a:prstGeom>
          <a:solidFill>
            <a:srgbClr val="13131F"/>
          </a:solidFill>
          <a:ln w="19050">
            <a:solidFill>
              <a:srgbClr val="00F5FF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143000"/>
            <a:ext cx="3730752" cy="548640"/>
          </a:xfrm>
          <a:prstGeom prst="rect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20700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0" y="119786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F5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75488" y="146304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9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Conformed Dimensions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75488" y="1709928"/>
            <a:ext cx="3520440" cy="0"/>
          </a:xfrm>
          <a:prstGeom prst="line">
            <a:avLst/>
          </a:prstGeom>
          <a:noFill/>
          <a:ln w="6350">
            <a:solidFill>
              <a:srgbClr val="2A2A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3776" y="1901952"/>
            <a:ext cx="64008" cy="64008"/>
          </a:xfrm>
          <a:prstGeom prst="ellipse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183794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dim_date (generated spine)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93776" y="2157984"/>
            <a:ext cx="64008" cy="64008"/>
          </a:xfrm>
          <a:prstGeom prst="ellipse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209397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dim_customers (+ walk-in)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93776" y="2414016"/>
            <a:ext cx="64008" cy="64008"/>
          </a:xfrm>
          <a:prstGeom prst="ellipse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235000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dim_product (SCD-2)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93776" y="2670048"/>
            <a:ext cx="64008" cy="64008"/>
          </a:xfrm>
          <a:prstGeom prst="ellipse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260604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dim_store (SCD-2 + GIS)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93776" y="2926080"/>
            <a:ext cx="64008" cy="64008"/>
          </a:xfrm>
          <a:prstGeom prst="ellipse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286207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dim_employee (SCD-2)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93776" y="3182112"/>
            <a:ext cx="64008" cy="64008"/>
          </a:xfrm>
          <a:prstGeom prst="ellipse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311810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dim_supplier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93776" y="3438144"/>
            <a:ext cx="64008" cy="64008"/>
          </a:xfrm>
          <a:prstGeom prst="ellipse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" y="337413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dim_campaign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93776" y="3694176"/>
            <a:ext cx="64008" cy="64008"/>
          </a:xfrm>
          <a:prstGeom prst="ellipse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" y="363016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dim_promotion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279392" y="1143000"/>
            <a:ext cx="3730752" cy="2606040"/>
          </a:xfrm>
          <a:prstGeom prst="rect">
            <a:avLst/>
          </a:prstGeom>
          <a:solidFill>
            <a:srgbClr val="13131F"/>
          </a:solidFill>
          <a:ln w="19050">
            <a:solidFill>
              <a:srgbClr val="BF00FF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279392" y="1143000"/>
            <a:ext cx="3730752" cy="548640"/>
          </a:xfrm>
          <a:prstGeom prst="rect">
            <a:avLst/>
          </a:prstGeom>
          <a:solidFill>
            <a:srgbClr val="BF00FF"/>
          </a:solidFill>
          <a:ln w="12700">
            <a:solidFill>
              <a:srgbClr val="BF00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0" y="120700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F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fact_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296912" y="119786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BF00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9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4389120" y="146304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9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Atomic Fact Tables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389120" y="1709928"/>
            <a:ext cx="3520440" cy="0"/>
          </a:xfrm>
          <a:prstGeom prst="line">
            <a:avLst/>
          </a:prstGeom>
          <a:noFill/>
          <a:ln w="6350">
            <a:solidFill>
              <a:srgbClr val="2A2A3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407408" y="1901952"/>
            <a:ext cx="64008" cy="64008"/>
          </a:xfrm>
          <a:prstGeom prst="ellipse">
            <a:avLst/>
          </a:prstGeom>
          <a:solidFill>
            <a:srgbClr val="BF00FF"/>
          </a:solidFill>
          <a:ln w="12700">
            <a:solidFill>
              <a:srgbClr val="BF00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35424" y="183794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pos_fact_sales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407408" y="2157984"/>
            <a:ext cx="64008" cy="64008"/>
          </a:xfrm>
          <a:prstGeom prst="ellipse">
            <a:avLst/>
          </a:prstGeom>
          <a:solidFill>
            <a:srgbClr val="BF00FF"/>
          </a:solidFill>
          <a:ln w="12700">
            <a:solidFill>
              <a:srgbClr val="BF00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35424" y="209397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fact_ecommerce_orders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407408" y="2414016"/>
            <a:ext cx="64008" cy="64008"/>
          </a:xfrm>
          <a:prstGeom prst="ellipse">
            <a:avLst/>
          </a:prstGeom>
          <a:solidFill>
            <a:srgbClr val="BF00FF"/>
          </a:solidFill>
          <a:ln w="12700">
            <a:solidFill>
              <a:srgbClr val="BF00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35424" y="235000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fact_purchase_orders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407408" y="2670048"/>
            <a:ext cx="64008" cy="64008"/>
          </a:xfrm>
          <a:prstGeom prst="ellipse">
            <a:avLst/>
          </a:prstGeom>
          <a:solidFill>
            <a:srgbClr val="BF00FF"/>
          </a:solidFill>
          <a:ln w="12700">
            <a:solidFill>
              <a:srgbClr val="BF00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35424" y="260604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fact_loyalty_transactions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407408" y="2926080"/>
            <a:ext cx="64008" cy="64008"/>
          </a:xfrm>
          <a:prstGeom prst="ellipse">
            <a:avLst/>
          </a:prstGeom>
          <a:solidFill>
            <a:srgbClr val="BF00FF"/>
          </a:solidFill>
          <a:ln w="12700">
            <a:solidFill>
              <a:srgbClr val="BF00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35424" y="286207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fact_gift_card_transactions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407408" y="3182112"/>
            <a:ext cx="64008" cy="64008"/>
          </a:xfrm>
          <a:prstGeom prst="ellipse">
            <a:avLst/>
          </a:prstGeom>
          <a:solidFill>
            <a:srgbClr val="BF00FF"/>
          </a:solidFill>
          <a:ln w="12700">
            <a:solidFill>
              <a:srgbClr val="BF00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35424" y="311810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fact_inventory_movements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407408" y="3438144"/>
            <a:ext cx="64008" cy="64008"/>
          </a:xfrm>
          <a:prstGeom prst="ellipse">
            <a:avLst/>
          </a:prstGeom>
          <a:solidFill>
            <a:srgbClr val="BF00FF"/>
          </a:solidFill>
          <a:ln w="12700">
            <a:solidFill>
              <a:srgbClr val="BF00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35424" y="337413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fact_inventory_snapshots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407408" y="3694176"/>
            <a:ext cx="64008" cy="64008"/>
          </a:xfrm>
          <a:prstGeom prst="ellipse">
            <a:avLst/>
          </a:prstGeom>
          <a:solidFill>
            <a:srgbClr val="BF00FF"/>
          </a:solidFill>
          <a:ln w="12700">
            <a:solidFill>
              <a:srgbClr val="BF00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35424" y="363016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fact_competitors_performance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407408" y="3950208"/>
            <a:ext cx="64008" cy="64008"/>
          </a:xfrm>
          <a:prstGeom prst="ellipse">
            <a:avLst/>
          </a:prstGeom>
          <a:solidFill>
            <a:srgbClr val="BF00FF"/>
          </a:solidFill>
          <a:ln w="12700">
            <a:solidFill>
              <a:srgbClr val="BF00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35424" y="388620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fact_economic_data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8193024" y="1143000"/>
            <a:ext cx="3730752" cy="2606040"/>
          </a:xfrm>
          <a:prstGeom prst="rect">
            <a:avLst/>
          </a:prstGeom>
          <a:solidFill>
            <a:srgbClr val="13131F"/>
          </a:solidFill>
          <a:ln w="19050">
            <a:solidFill>
              <a:srgbClr val="FFD600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8193024" y="1143000"/>
            <a:ext cx="3730752" cy="548640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302752" y="120700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junk_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1210544" y="119786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D6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2000" dirty="0"/>
          </a:p>
        </p:txBody>
      </p:sp>
      <p:sp>
        <p:nvSpPr>
          <p:cNvPr id="57" name="Text 55"/>
          <p:cNvSpPr/>
          <p:nvPr/>
        </p:nvSpPr>
        <p:spPr>
          <a:xfrm>
            <a:off x="8302752" y="146304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9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Junk Dimensions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8302752" y="1709928"/>
            <a:ext cx="3520440" cy="0"/>
          </a:xfrm>
          <a:prstGeom prst="line">
            <a:avLst/>
          </a:prstGeom>
          <a:noFill/>
          <a:ln w="6350">
            <a:solidFill>
              <a:srgbClr val="2A2A3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321040" y="1901952"/>
            <a:ext cx="64008" cy="64008"/>
          </a:xfrm>
          <a:prstGeom prst="ellipse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449056" y="183794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dim_junk_eco (e-commerce)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8321040" y="2157984"/>
            <a:ext cx="64008" cy="64008"/>
          </a:xfrm>
          <a:prstGeom prst="ellipse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449056" y="209397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dim_orders_junk (PO status)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8321040" y="2414016"/>
            <a:ext cx="64008" cy="64008"/>
          </a:xfrm>
          <a:prstGeom prst="ellipse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449056" y="235000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dim_receipts_junk (GR quality)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8321040" y="2670048"/>
            <a:ext cx="64008" cy="64008"/>
          </a:xfrm>
          <a:prstGeom prst="ellipse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449056" y="260604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dim_cust_exp (CX type)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365760" y="3867912"/>
            <a:ext cx="3730752" cy="2606040"/>
          </a:xfrm>
          <a:prstGeom prst="rect">
            <a:avLst/>
          </a:prstGeom>
          <a:solidFill>
            <a:srgbClr val="13131F"/>
          </a:solidFill>
          <a:ln w="19050">
            <a:solidFill>
              <a:srgbClr val="00FF88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365760" y="3867912"/>
            <a:ext cx="3730752" cy="54864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75488" y="393192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agg_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3383280" y="392277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FF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3+</a:t>
            </a:r>
            <a:endParaRPr lang="en-US" sz="2000" dirty="0"/>
          </a:p>
        </p:txBody>
      </p:sp>
      <p:sp>
        <p:nvSpPr>
          <p:cNvPr id="71" name="Text 69"/>
          <p:cNvSpPr/>
          <p:nvPr/>
        </p:nvSpPr>
        <p:spPr>
          <a:xfrm>
            <a:off x="475488" y="4187952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9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Aggregate / Support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475488" y="4434840"/>
            <a:ext cx="3520440" cy="0"/>
          </a:xfrm>
          <a:prstGeom prst="line">
            <a:avLst/>
          </a:prstGeom>
          <a:noFill/>
          <a:ln w="6350">
            <a:solidFill>
              <a:srgbClr val="2A2A3D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93776" y="4626864"/>
            <a:ext cx="64008" cy="64008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21792" y="45628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fact_store_daily_financials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493776" y="4882896"/>
            <a:ext cx="64008" cy="64008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21792" y="481888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fact_stores_ledger (GL)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493776" y="5138928"/>
            <a:ext cx="64008" cy="64008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21792" y="507492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campaign_fact (budget/spend)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4279392" y="3867912"/>
            <a:ext cx="3730752" cy="2606040"/>
          </a:xfrm>
          <a:prstGeom prst="rect">
            <a:avLst/>
          </a:prstGeom>
          <a:solidFill>
            <a:srgbClr val="13131F"/>
          </a:solidFill>
          <a:ln w="19050">
            <a:solidFill>
              <a:srgbClr val="FF6B00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4279392" y="3867912"/>
            <a:ext cx="3730752" cy="54864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389120" y="393192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bridge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7296912" y="392277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6B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2000" dirty="0"/>
          </a:p>
        </p:txBody>
      </p:sp>
      <p:sp>
        <p:nvSpPr>
          <p:cNvPr id="83" name="Text 81"/>
          <p:cNvSpPr/>
          <p:nvPr/>
        </p:nvSpPr>
        <p:spPr>
          <a:xfrm>
            <a:off x="4389120" y="4187952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9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Bridge &amp; Special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4389120" y="4434840"/>
            <a:ext cx="3520440" cy="0"/>
          </a:xfrm>
          <a:prstGeom prst="line">
            <a:avLst/>
          </a:prstGeom>
          <a:noFill/>
          <a:ln w="6350">
            <a:solidFill>
              <a:srgbClr val="2A2A3D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407408" y="4626864"/>
            <a:ext cx="64008" cy="64008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535424" y="45628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dim_product_bridge (SCD-2)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4407408" y="4882896"/>
            <a:ext cx="64008" cy="64008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535424" y="481888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dim_store_bridge (SCD-2)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4407408" y="5138928"/>
            <a:ext cx="64008" cy="64008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535424" y="507492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promotion_factless_fact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8193024" y="3867912"/>
            <a:ext cx="3730752" cy="2606040"/>
          </a:xfrm>
          <a:prstGeom prst="rect">
            <a:avLst/>
          </a:prstGeom>
          <a:solidFill>
            <a:srgbClr val="13131F"/>
          </a:solidFill>
          <a:ln w="19050">
            <a:solidFill>
              <a:srgbClr val="FF2D6B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92" name="Shape 90"/>
          <p:cNvSpPr/>
          <p:nvPr/>
        </p:nvSpPr>
        <p:spPr>
          <a:xfrm>
            <a:off x="8193024" y="3867912"/>
            <a:ext cx="3730752" cy="548640"/>
          </a:xfrm>
          <a:prstGeom prst="rect">
            <a:avLst/>
          </a:prstGeom>
          <a:solidFill>
            <a:srgbClr val="FF2D6B"/>
          </a:solidFill>
          <a:ln w="12700">
            <a:solidFill>
              <a:srgbClr val="FF2D6B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8302752" y="393192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2D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</a:t>
            </a:r>
            <a:endParaRPr lang="en-US" sz="1000" dirty="0"/>
          </a:p>
        </p:txBody>
      </p:sp>
      <p:sp>
        <p:nvSpPr>
          <p:cNvPr id="94" name="Text 92"/>
          <p:cNvSpPr/>
          <p:nvPr/>
        </p:nvSpPr>
        <p:spPr>
          <a:xfrm>
            <a:off x="11210544" y="392277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2D6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2000" dirty="0"/>
          </a:p>
        </p:txBody>
      </p:sp>
      <p:sp>
        <p:nvSpPr>
          <p:cNvPr id="95" name="Text 93"/>
          <p:cNvSpPr/>
          <p:nvPr/>
        </p:nvSpPr>
        <p:spPr>
          <a:xfrm>
            <a:off x="8302752" y="4187952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9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Competitor &amp; Geo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8302752" y="4434840"/>
            <a:ext cx="3520440" cy="0"/>
          </a:xfrm>
          <a:prstGeom prst="line">
            <a:avLst/>
          </a:prstGeom>
          <a:noFill/>
          <a:ln w="6350">
            <a:solidFill>
              <a:srgbClr val="2A2A3D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321040" y="4626864"/>
            <a:ext cx="64008" cy="64008"/>
          </a:xfrm>
          <a:prstGeom prst="ellipse">
            <a:avLst/>
          </a:prstGeom>
          <a:solidFill>
            <a:srgbClr val="FF2D6B"/>
          </a:solidFill>
          <a:ln w="12700">
            <a:solidFill>
              <a:srgbClr val="FF2D6B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8449056" y="45628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dim_competitors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8321040" y="4882896"/>
            <a:ext cx="64008" cy="64008"/>
          </a:xfrm>
          <a:prstGeom prst="ellipse">
            <a:avLst/>
          </a:prstGeom>
          <a:solidFill>
            <a:srgbClr val="FF2D6B"/>
          </a:solidFill>
          <a:ln w="12700">
            <a:solidFill>
              <a:srgbClr val="FF2D6B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449056" y="481888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dim_competitors_stores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8321040" y="5138928"/>
            <a:ext cx="64008" cy="64008"/>
          </a:xfrm>
          <a:prstGeom prst="ellipse">
            <a:avLst/>
          </a:prstGeom>
          <a:solidFill>
            <a:srgbClr val="FF2D6B"/>
          </a:solidFill>
          <a:ln w="12700">
            <a:solidFill>
              <a:srgbClr val="FF2D6B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8449056" y="507492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dim_counties (geo)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03136"/>
            <a:ext cx="12161520" cy="54864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E8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 Mart Plan — Five Subject-Area Marts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9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mart = one Power BI semantic model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12700">
            <a:solidFill>
              <a:srgbClr val="2A2A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43000"/>
            <a:ext cx="11430000" cy="1005840"/>
          </a:xfrm>
          <a:prstGeom prst="rect">
            <a:avLst/>
          </a:prstGeom>
          <a:solidFill>
            <a:srgbClr val="13131F"/>
          </a:solidFill>
          <a:ln w="19050">
            <a:solidFill>
              <a:srgbClr val="00FF88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143000"/>
            <a:ext cx="731520" cy="100584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435608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FF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12070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FF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Mart 01 — Sales &amp; Revenue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88720" y="14904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9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Audience: Commercial Director, Sales Managers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88720" y="16916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Tables: pos_fact_sales · fact_ecommerce_orders · dim_date · dim_customers · dim_product · dim_store · dim_campaign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5120640" y="1234440"/>
            <a:ext cx="0" cy="822960"/>
          </a:xfrm>
          <a:prstGeom prst="line">
            <a:avLst/>
          </a:prstGeom>
          <a:noFill/>
          <a:ln w="12700">
            <a:solidFill>
              <a:srgbClr val="2A2A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57800" y="1280160"/>
            <a:ext cx="6355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KPIs: Total Revenue · Net Revenue · Gross Margin % · Return Rate · ATV · Channel Mix · Top Products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5760" y="2258568"/>
            <a:ext cx="11430000" cy="1005840"/>
          </a:xfrm>
          <a:prstGeom prst="rect">
            <a:avLst/>
          </a:prstGeom>
          <a:solidFill>
            <a:srgbClr val="13131F"/>
          </a:solidFill>
          <a:ln w="19050">
            <a:solidFill>
              <a:srgbClr val="BF00FF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258568"/>
            <a:ext cx="731520" cy="1005840"/>
          </a:xfrm>
          <a:prstGeom prst="rect">
            <a:avLst/>
          </a:prstGeom>
          <a:solidFill>
            <a:srgbClr val="BF00FF"/>
          </a:solidFill>
          <a:ln w="12700">
            <a:solidFill>
              <a:srgbClr val="BF00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551176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F00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23225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F00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Mart 02 — Customer &amp; Loyalty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88720" y="26060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9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Audience: CRM Manager, Marketing Team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88720" y="28072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Tables: fact_loyalty_transactions · fact_customer_exp · dim_customers · dim_counties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120640" y="2350008"/>
            <a:ext cx="0" cy="822960"/>
          </a:xfrm>
          <a:prstGeom prst="line">
            <a:avLst/>
          </a:prstGeom>
          <a:noFill/>
          <a:ln w="12700">
            <a:solidFill>
              <a:srgbClr val="2A2A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57800" y="2395728"/>
            <a:ext cx="6355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KPIs: Active Customers · Churn Rate · CLV · NPS Trend · Points Liability · Tier Distribution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5760" y="3374136"/>
            <a:ext cx="11430000" cy="1005840"/>
          </a:xfrm>
          <a:prstGeom prst="rect">
            <a:avLst/>
          </a:prstGeom>
          <a:solidFill>
            <a:srgbClr val="13131F"/>
          </a:solidFill>
          <a:ln w="19050">
            <a:solidFill>
              <a:srgbClr val="FF2D6B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374136"/>
            <a:ext cx="731520" cy="1005840"/>
          </a:xfrm>
          <a:prstGeom prst="rect">
            <a:avLst/>
          </a:prstGeom>
          <a:solidFill>
            <a:srgbClr val="FF2D6B"/>
          </a:solidFill>
          <a:ln w="12700">
            <a:solidFill>
              <a:srgbClr val="FF2D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666744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2D6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88720" y="34381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2D6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Mart 03 — Inventory &amp; Supply Chain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88720" y="37216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9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Audience: Supply Chain Manager, Store Managers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188720" y="392277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Tables: fact_inventory_movements · fact_inventory_snapshots · fact_purchase_orders · dim_supplier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120640" y="3465576"/>
            <a:ext cx="0" cy="822960"/>
          </a:xfrm>
          <a:prstGeom prst="line">
            <a:avLst/>
          </a:prstGeom>
          <a:noFill/>
          <a:ln w="12700">
            <a:solidFill>
              <a:srgbClr val="2A2A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57800" y="3511296"/>
            <a:ext cx="6355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KPIs: Stock-Out Rate · Days On Hand · Supplier OTD % · Lead Time Variance · Turnover Ratio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65760" y="4489704"/>
            <a:ext cx="11430000" cy="1005840"/>
          </a:xfrm>
          <a:prstGeom prst="rect">
            <a:avLst/>
          </a:prstGeom>
          <a:solidFill>
            <a:srgbClr val="13131F"/>
          </a:solidFill>
          <a:ln w="19050">
            <a:solidFill>
              <a:srgbClr val="FFD600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65760" y="4489704"/>
            <a:ext cx="731520" cy="1005840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782312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D6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188720" y="45537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6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Mart 04 — Finance &amp; Store P&amp;L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188720" y="483717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9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Audience: CFO, Finance Analysts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188720" y="503834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Tables: fact_store_daily_financials · fact_stores_ledger · fact_competitors_performance · dim_gl_accounts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5120640" y="4581144"/>
            <a:ext cx="0" cy="822960"/>
          </a:xfrm>
          <a:prstGeom prst="line">
            <a:avLst/>
          </a:prstGeom>
          <a:noFill/>
          <a:ln w="12700">
            <a:solidFill>
              <a:srgbClr val="2A2A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57800" y="4626864"/>
            <a:ext cx="6355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KPIs: Net Profit by Store · Gross Margin % · Operating Expense Ratio · Market Share vs Competitors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65760" y="5605272"/>
            <a:ext cx="11430000" cy="1005840"/>
          </a:xfrm>
          <a:prstGeom prst="rect">
            <a:avLst/>
          </a:prstGeom>
          <a:solidFill>
            <a:srgbClr val="13131F"/>
          </a:solidFill>
          <a:ln w="19050">
            <a:solidFill>
              <a:srgbClr val="FF6B00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65760" y="5605272"/>
            <a:ext cx="731520" cy="100584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58978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6B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05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188720" y="5669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Mart 05 — HR &amp; Workforce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188720" y="595274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9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Audience: HR Manager, Operations Director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188720" y="61539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Tables: fact_competitors_performance · dim_employee · dim_store · fact_economic_data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5120640" y="5696712"/>
            <a:ext cx="0" cy="822960"/>
          </a:xfrm>
          <a:prstGeom prst="line">
            <a:avLst/>
          </a:prstGeom>
          <a:noFill/>
          <a:ln w="12700">
            <a:solidFill>
              <a:srgbClr val="2A2A3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257800" y="5742432"/>
            <a:ext cx="6355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KPIs: Headcount · Attrition Rate · Salary Equity Gap · Tenure Distribution · Retention Risk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FF00C8"/>
          </a:solidFill>
          <a:ln w="12700">
            <a:solidFill>
              <a:srgbClr val="FF00C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03136"/>
            <a:ext cx="12161520" cy="54864"/>
          </a:xfrm>
          <a:prstGeom prst="rect">
            <a:avLst/>
          </a:prstGeom>
          <a:solidFill>
            <a:srgbClr val="FF00C8"/>
          </a:solidFill>
          <a:ln w="12700">
            <a:solidFill>
              <a:srgbClr val="FF00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E8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Key Business Requirements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9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Functional requirements by domain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12700">
            <a:solidFill>
              <a:srgbClr val="2A2A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43000"/>
            <a:ext cx="11430000" cy="347472"/>
          </a:xfrm>
          <a:prstGeom prst="rect">
            <a:avLst/>
          </a:prstGeom>
          <a:solidFill>
            <a:srgbClr val="13131F"/>
          </a:solidFill>
          <a:ln w="19050">
            <a:solidFill>
              <a:srgbClr val="00FF88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" y="11887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BR-01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298448" y="1207008"/>
            <a:ext cx="1097280" cy="201168"/>
          </a:xfrm>
          <a:prstGeom prst="roundRect">
            <a:avLst>
              <a:gd name="adj" fmla="val 13636"/>
            </a:avLst>
          </a:prstGeom>
          <a:solidFill>
            <a:srgbClr val="00FF88"/>
          </a:solidFill>
          <a:ln w="6350">
            <a:solidFill>
              <a:srgbClr val="00FF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98448" y="12070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FF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2487168" y="11887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shall provide combined POS + e-commerce revenue with net-of-returns calculation at product, store, county and time grain.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5760" y="1527048"/>
            <a:ext cx="11430000" cy="347472"/>
          </a:xfrm>
          <a:prstGeom prst="rect">
            <a:avLst/>
          </a:prstGeom>
          <a:solidFill>
            <a:srgbClr val="13131F"/>
          </a:solidFill>
          <a:ln w="19050">
            <a:solidFill>
              <a:srgbClr val="00FF88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" y="157276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BR-02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298448" y="1591056"/>
            <a:ext cx="1097280" cy="201168"/>
          </a:xfrm>
          <a:prstGeom prst="roundRect">
            <a:avLst>
              <a:gd name="adj" fmla="val 13636"/>
            </a:avLst>
          </a:prstGeom>
          <a:solidFill>
            <a:srgbClr val="00FF88"/>
          </a:solidFill>
          <a:ln w="6350">
            <a:solidFill>
              <a:srgbClr val="00FF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98448" y="159105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FF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487168" y="157276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shall calculate gross margin per product line using the unit_cost active on the transaction date (SCD-2 accuracy).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" y="1911096"/>
            <a:ext cx="11430000" cy="347472"/>
          </a:xfrm>
          <a:prstGeom prst="rect">
            <a:avLst/>
          </a:prstGeom>
          <a:solidFill>
            <a:srgbClr val="13131F"/>
          </a:solidFill>
          <a:ln w="19050">
            <a:solidFill>
              <a:srgbClr val="BF00FF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" y="195681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BF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BR-03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298448" y="1975104"/>
            <a:ext cx="1097280" cy="201168"/>
          </a:xfrm>
          <a:prstGeom prst="roundRect">
            <a:avLst>
              <a:gd name="adj" fmla="val 13636"/>
            </a:avLst>
          </a:prstGeom>
          <a:solidFill>
            <a:srgbClr val="BF00FF"/>
          </a:solidFill>
          <a:ln w="6350">
            <a:solidFill>
              <a:srgbClr val="BF00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98448" y="197510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BF0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2487168" y="195681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shall identify and track customer churn, including the date of churn and days since last purchase.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2295144"/>
            <a:ext cx="11430000" cy="347472"/>
          </a:xfrm>
          <a:prstGeom prst="rect">
            <a:avLst/>
          </a:prstGeom>
          <a:solidFill>
            <a:srgbClr val="13131F"/>
          </a:solidFill>
          <a:ln w="19050">
            <a:solidFill>
              <a:srgbClr val="BF00FF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5488" y="234086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BF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BR-04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298448" y="2359152"/>
            <a:ext cx="1097280" cy="201168"/>
          </a:xfrm>
          <a:prstGeom prst="roundRect">
            <a:avLst>
              <a:gd name="adj" fmla="val 13636"/>
            </a:avLst>
          </a:prstGeom>
          <a:solidFill>
            <a:srgbClr val="BF00FF"/>
          </a:solidFill>
          <a:ln w="6350">
            <a:solidFill>
              <a:srgbClr val="BF00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98448" y="23591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BF0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2487168" y="234086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shall maintain a single customer dimension that includes both identified customers and walk-in (anonymous) customers.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2679192"/>
            <a:ext cx="11430000" cy="347472"/>
          </a:xfrm>
          <a:prstGeom prst="rect">
            <a:avLst/>
          </a:prstGeom>
          <a:solidFill>
            <a:srgbClr val="13131F"/>
          </a:solidFill>
          <a:ln w="19050">
            <a:solidFill>
              <a:srgbClr val="00F5FF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5488" y="272491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BR-05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298448" y="2743200"/>
            <a:ext cx="1097280" cy="201168"/>
          </a:xfrm>
          <a:prstGeom prst="roundRect">
            <a:avLst>
              <a:gd name="adj" fmla="val 13636"/>
            </a:avLst>
          </a:prstGeom>
          <a:solidFill>
            <a:srgbClr val="00F5FF"/>
          </a:solidFill>
          <a:ln w="6350">
            <a:solidFill>
              <a:srgbClr val="00F5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98448" y="27432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F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Loyalty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487168" y="272491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shall track loyalty points earned, redeemed, expired and running balance per customer per event.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65760" y="3063240"/>
            <a:ext cx="11430000" cy="347472"/>
          </a:xfrm>
          <a:prstGeom prst="rect">
            <a:avLst/>
          </a:prstGeom>
          <a:solidFill>
            <a:srgbClr val="13131F"/>
          </a:solidFill>
          <a:ln w="19050">
            <a:solidFill>
              <a:srgbClr val="FF2D6B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75488" y="310896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2D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BR-06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298448" y="3127248"/>
            <a:ext cx="1097280" cy="201168"/>
          </a:xfrm>
          <a:prstGeom prst="roundRect">
            <a:avLst>
              <a:gd name="adj" fmla="val 13636"/>
            </a:avLst>
          </a:prstGeom>
          <a:solidFill>
            <a:srgbClr val="FF2D6B"/>
          </a:solidFill>
          <a:ln w="6350">
            <a:solidFill>
              <a:srgbClr val="FF2D6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98448" y="31272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2D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487168" y="310896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shall provide periodic snapshot of on-hand quantity vs reorder point and suggested reorder quantity by product and store.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65760" y="3447288"/>
            <a:ext cx="11430000" cy="347472"/>
          </a:xfrm>
          <a:prstGeom prst="rect">
            <a:avLst/>
          </a:prstGeom>
          <a:solidFill>
            <a:srgbClr val="13131F"/>
          </a:solidFill>
          <a:ln w="19050">
            <a:solidFill>
              <a:srgbClr val="FF2D6B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75488" y="349300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2D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BR-07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298448" y="3511296"/>
            <a:ext cx="1097280" cy="201168"/>
          </a:xfrm>
          <a:prstGeom prst="roundRect">
            <a:avLst>
              <a:gd name="adj" fmla="val 13636"/>
            </a:avLst>
          </a:prstGeom>
          <a:solidFill>
            <a:srgbClr val="FF2D6B"/>
          </a:solidFill>
          <a:ln w="6350">
            <a:solidFill>
              <a:srgbClr val="FF2D6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298448" y="351129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2D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Supply Chain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2487168" y="349300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shall track the full PO lifecycle: order date, expected delivery, actual receipt and quality outcome (accumulating snapshot).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65760" y="3831336"/>
            <a:ext cx="11430000" cy="347472"/>
          </a:xfrm>
          <a:prstGeom prst="rect">
            <a:avLst/>
          </a:prstGeom>
          <a:solidFill>
            <a:srgbClr val="13131F"/>
          </a:solidFill>
          <a:ln w="19050">
            <a:solidFill>
              <a:srgbClr val="FFD600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75488" y="387705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D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BR-08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1298448" y="3895344"/>
            <a:ext cx="1097280" cy="201168"/>
          </a:xfrm>
          <a:prstGeom prst="roundRect">
            <a:avLst>
              <a:gd name="adj" fmla="val 13636"/>
            </a:avLst>
          </a:prstGeom>
          <a:solidFill>
            <a:srgbClr val="FFD600"/>
          </a:solidFill>
          <a:ln w="6350">
            <a:solidFill>
              <a:srgbClr val="FFD6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298448" y="389534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D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2487168" y="387705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shall provide daily P&amp;L per store (sales, COGS, gross margin, operating expenses, net profit) and GL transaction detail.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65760" y="4215384"/>
            <a:ext cx="11430000" cy="347472"/>
          </a:xfrm>
          <a:prstGeom prst="rect">
            <a:avLst/>
          </a:prstGeom>
          <a:solidFill>
            <a:srgbClr val="13131F"/>
          </a:solidFill>
          <a:ln w="19050">
            <a:solidFill>
              <a:srgbClr val="FFD600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475488" y="426110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D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BR-09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1298448" y="4279392"/>
            <a:ext cx="1097280" cy="201168"/>
          </a:xfrm>
          <a:prstGeom prst="roundRect">
            <a:avLst>
              <a:gd name="adj" fmla="val 13636"/>
            </a:avLst>
          </a:prstGeom>
          <a:solidFill>
            <a:srgbClr val="FFD600"/>
          </a:solidFill>
          <a:ln w="6350">
            <a:solidFill>
              <a:srgbClr val="FFD6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298448" y="42793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D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2487168" y="426110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shall enable competitor revenue and market share benchmarking at quarterly grain.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65760" y="4599432"/>
            <a:ext cx="11430000" cy="347472"/>
          </a:xfrm>
          <a:prstGeom prst="rect">
            <a:avLst/>
          </a:prstGeom>
          <a:solidFill>
            <a:srgbClr val="13131F"/>
          </a:solidFill>
          <a:ln w="19050">
            <a:solidFill>
              <a:srgbClr val="FF00C8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475488" y="464515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0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BR-10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1298448" y="4663440"/>
            <a:ext cx="1097280" cy="201168"/>
          </a:xfrm>
          <a:prstGeom prst="roundRect">
            <a:avLst>
              <a:gd name="adj" fmla="val 13636"/>
            </a:avLst>
          </a:prstGeom>
          <a:solidFill>
            <a:srgbClr val="FF00C8"/>
          </a:solidFill>
          <a:ln w="6350">
            <a:solidFill>
              <a:srgbClr val="FF00C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298448" y="46634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00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Marketing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2487168" y="46451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shall track which products are covered by which promotions (factless fact) to enable zero-sales coverage analysis.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65760" y="4983480"/>
            <a:ext cx="11430000" cy="347472"/>
          </a:xfrm>
          <a:prstGeom prst="rect">
            <a:avLst/>
          </a:prstGeom>
          <a:solidFill>
            <a:srgbClr val="13131F"/>
          </a:solidFill>
          <a:ln w="19050">
            <a:solidFill>
              <a:srgbClr val="FF6B00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475488" y="50292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BR-11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1298448" y="5047488"/>
            <a:ext cx="1097280" cy="201168"/>
          </a:xfrm>
          <a:prstGeom prst="roundRect">
            <a:avLst>
              <a:gd name="adj" fmla="val 13636"/>
            </a:avLst>
          </a:prstGeom>
          <a:solidFill>
            <a:srgbClr val="FF6B00"/>
          </a:solidFill>
          <a:ln w="6350">
            <a:solidFill>
              <a:srgbClr val="FF6B0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298448" y="504748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6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2487168" y="5029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shall provide workforce analytics including headcount, tenure distribution, salary equity and retention risk.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365760" y="5367528"/>
            <a:ext cx="11430000" cy="347472"/>
          </a:xfrm>
          <a:prstGeom prst="rect">
            <a:avLst/>
          </a:prstGeom>
          <a:solidFill>
            <a:srgbClr val="13131F"/>
          </a:solidFill>
          <a:ln w="19050">
            <a:solidFill>
              <a:srgbClr val="00B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475488" y="541324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BR-12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1298448" y="5431536"/>
            <a:ext cx="1097280" cy="201168"/>
          </a:xfrm>
          <a:prstGeom prst="roundRect">
            <a:avLst>
              <a:gd name="adj" fmla="val 13636"/>
            </a:avLst>
          </a:prstGeom>
          <a:solidFill>
            <a:srgbClr val="00BFFF"/>
          </a:solidFill>
          <a:ln w="6350">
            <a:solidFill>
              <a:srgbClr val="00BF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298448" y="543153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B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CX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2487168" y="54132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shall combine feedback ratings and service interaction satisfaction scores into a single customer experience fact.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365760" y="5751576"/>
            <a:ext cx="11430000" cy="347472"/>
          </a:xfrm>
          <a:prstGeom prst="rect">
            <a:avLst/>
          </a:prstGeom>
          <a:solidFill>
            <a:srgbClr val="13131F"/>
          </a:solidFill>
          <a:ln w="19050">
            <a:solidFill>
              <a:srgbClr val="A0FF00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475488" y="579729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A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BR-13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1298448" y="5815584"/>
            <a:ext cx="1097280" cy="201168"/>
          </a:xfrm>
          <a:prstGeom prst="roundRect">
            <a:avLst>
              <a:gd name="adj" fmla="val 13636"/>
            </a:avLst>
          </a:prstGeom>
          <a:solidFill>
            <a:srgbClr val="A0FF00"/>
          </a:solidFill>
          <a:ln w="6350">
            <a:solidFill>
              <a:srgbClr val="A0FF0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298448" y="58155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A0FF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Geo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2487168" y="579729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shall link county-level economic indicators (GDP, inflation, unemployment) to store and customer performance.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365760" y="6135624"/>
            <a:ext cx="11430000" cy="347472"/>
          </a:xfrm>
          <a:prstGeom prst="rect">
            <a:avLst/>
          </a:prstGeom>
          <a:solidFill>
            <a:srgbClr val="13131F"/>
          </a:solidFill>
          <a:ln w="19050">
            <a:solidFill>
              <a:srgbClr val="00F5FF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475488" y="618134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BR-14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1298448" y="6199632"/>
            <a:ext cx="1097280" cy="201168"/>
          </a:xfrm>
          <a:prstGeom prst="roundRect">
            <a:avLst>
              <a:gd name="adj" fmla="val 13636"/>
            </a:avLst>
          </a:prstGeom>
          <a:solidFill>
            <a:srgbClr val="00F5FF"/>
          </a:solidFill>
          <a:ln w="6350">
            <a:solidFill>
              <a:srgbClr val="00F5F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298448" y="619963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F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Modelling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2487168" y="618134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shall implement a proper dim_date used as the primary date filter for all fact tables (no auto date/time).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03136"/>
            <a:ext cx="1216152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E8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Stakeholders &amp; Data Consumer Matrix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9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uses what and for what purpose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12700">
            <a:solidFill>
              <a:srgbClr val="2A2A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43000"/>
            <a:ext cx="114300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1704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F5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Role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670048" y="11704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F5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Department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041648" y="11704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F5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Mart Access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321808" y="117043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F5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Report Focus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0533888" y="11704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F5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Frequency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5760" y="1481328"/>
            <a:ext cx="11430000" cy="384048"/>
          </a:xfrm>
          <a:prstGeom prst="rect">
            <a:avLst/>
          </a:prstGeom>
          <a:solidFill>
            <a:srgbClr val="13131F"/>
          </a:solidFill>
          <a:ln w="6350">
            <a:solidFill>
              <a:srgbClr val="2A2A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1481328"/>
            <a:ext cx="109728" cy="384048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155448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FF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Commercial Director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697480" y="1554480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9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069080" y="1554480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Mart 1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349240" y="155448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 trend, channel mix, product performance, campaign ROI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561320" y="155448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9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65760" y="1901952"/>
            <a:ext cx="11430000" cy="384048"/>
          </a:xfrm>
          <a:prstGeom prst="rect">
            <a:avLst/>
          </a:prstGeom>
          <a:solidFill>
            <a:srgbClr val="0F0F1C"/>
          </a:solidFill>
          <a:ln w="6350">
            <a:solidFill>
              <a:srgbClr val="2A2A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1901952"/>
            <a:ext cx="109728" cy="384048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197510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FF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Sales Manager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697480" y="1975104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9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069080" y="1975104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Mart 1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49240" y="1975104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Store ranking, ATV by cashier, return rates, discount depth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561320" y="1975104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9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65760" y="2322576"/>
            <a:ext cx="11430000" cy="384048"/>
          </a:xfrm>
          <a:prstGeom prst="rect">
            <a:avLst/>
          </a:prstGeom>
          <a:solidFill>
            <a:srgbClr val="13131F"/>
          </a:solidFill>
          <a:ln w="6350">
            <a:solidFill>
              <a:srgbClr val="2A2A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2322576"/>
            <a:ext cx="109728" cy="384048"/>
          </a:xfrm>
          <a:prstGeom prst="rect">
            <a:avLst/>
          </a:prstGeom>
          <a:solidFill>
            <a:srgbClr val="BF00FF"/>
          </a:solidFill>
          <a:ln w="12700">
            <a:solidFill>
              <a:srgbClr val="BF00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239572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F00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CRM Manager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697480" y="2395728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9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069080" y="2395728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Mart 2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349240" y="2395728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Churn analysis, CLV segments, loyalty tier distribution, NPS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561320" y="2395728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9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Weekly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65760" y="2743200"/>
            <a:ext cx="11430000" cy="384048"/>
          </a:xfrm>
          <a:prstGeom prst="rect">
            <a:avLst/>
          </a:prstGeom>
          <a:solidFill>
            <a:srgbClr val="0F0F1C"/>
          </a:solidFill>
          <a:ln w="6350">
            <a:solidFill>
              <a:srgbClr val="2A2A3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" y="2743200"/>
            <a:ext cx="109728" cy="384048"/>
          </a:xfrm>
          <a:prstGeom prst="rect">
            <a:avLst/>
          </a:prstGeom>
          <a:solidFill>
            <a:srgbClr val="FF00C8"/>
          </a:solidFill>
          <a:ln w="12700">
            <a:solidFill>
              <a:srgbClr val="FF00C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0352" y="281635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00C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Marketing Team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697480" y="2816352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9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Marketing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069080" y="2816352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Mart 1+2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349240" y="2816352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Campaign performance, promotion coverage, acquisition channel ROI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0561320" y="2816352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9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Weekly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65760" y="3163824"/>
            <a:ext cx="11430000" cy="384048"/>
          </a:xfrm>
          <a:prstGeom prst="rect">
            <a:avLst/>
          </a:prstGeom>
          <a:solidFill>
            <a:srgbClr val="13131F"/>
          </a:solidFill>
          <a:ln w="6350">
            <a:solidFill>
              <a:srgbClr val="2A2A3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5760" y="3163824"/>
            <a:ext cx="109728" cy="384048"/>
          </a:xfrm>
          <a:prstGeom prst="rect">
            <a:avLst/>
          </a:prstGeom>
          <a:solidFill>
            <a:srgbClr val="FF2D6B"/>
          </a:solidFill>
          <a:ln w="12700">
            <a:solidFill>
              <a:srgbClr val="FF2D6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0352" y="323697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2D6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Supply Chain Mgr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2697480" y="323697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9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Operations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069080" y="3236976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Mart 3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349240" y="3236976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Supplier scorecard, stock-outs, reorder alerts, PO lead times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0561320" y="3236976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9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65760" y="3584448"/>
            <a:ext cx="11430000" cy="384048"/>
          </a:xfrm>
          <a:prstGeom prst="rect">
            <a:avLst/>
          </a:prstGeom>
          <a:solidFill>
            <a:srgbClr val="0F0F1C"/>
          </a:solidFill>
          <a:ln w="6350">
            <a:solidFill>
              <a:srgbClr val="2A2A3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65760" y="3584448"/>
            <a:ext cx="109728" cy="384048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30352" y="365760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D6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Store Manager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2697480" y="3657600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9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Operations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069080" y="3657600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Mart 1+3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349240" y="365760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Store P&amp;L, inventory levels, cashier performance, peak hours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10561320" y="365760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9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365760" y="4005072"/>
            <a:ext cx="11430000" cy="384048"/>
          </a:xfrm>
          <a:prstGeom prst="rect">
            <a:avLst/>
          </a:prstGeom>
          <a:solidFill>
            <a:srgbClr val="13131F"/>
          </a:solidFill>
          <a:ln w="6350">
            <a:solidFill>
              <a:srgbClr val="2A2A3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65760" y="4005072"/>
            <a:ext cx="109728" cy="384048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30352" y="407822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D6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CFO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2697480" y="4078224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9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4069080" y="4078224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Mart 4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349240" y="4078224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P&amp;L by store, gross margin trend, competitor benchmarking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10561320" y="4078224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9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Monthly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365760" y="4425696"/>
            <a:ext cx="11430000" cy="384048"/>
          </a:xfrm>
          <a:prstGeom prst="rect">
            <a:avLst/>
          </a:prstGeom>
          <a:solidFill>
            <a:srgbClr val="0F0F1C"/>
          </a:solidFill>
          <a:ln w="6350">
            <a:solidFill>
              <a:srgbClr val="2A2A3D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65760" y="4425696"/>
            <a:ext cx="109728" cy="384048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30352" y="449884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D6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Finance Analyst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2697480" y="4498848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9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4069080" y="4498848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Mart 4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349240" y="4498848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 account analysis, daily financials, operating expense ratio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10561320" y="4498848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9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Weekly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365760" y="4846320"/>
            <a:ext cx="11430000" cy="384048"/>
          </a:xfrm>
          <a:prstGeom prst="rect">
            <a:avLst/>
          </a:prstGeom>
          <a:solidFill>
            <a:srgbClr val="13131F"/>
          </a:solidFill>
          <a:ln w="6350">
            <a:solidFill>
              <a:srgbClr val="2A2A3D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65760" y="4846320"/>
            <a:ext cx="109728" cy="38404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30352" y="49194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6B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HR Manager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2697480" y="4919472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9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4069080" y="4919472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Mart 5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5349240" y="4919472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Headcount, attrition, salary equity, diversity ratios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10561320" y="4919472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9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Monthly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365760" y="5266944"/>
            <a:ext cx="11430000" cy="384048"/>
          </a:xfrm>
          <a:prstGeom prst="rect">
            <a:avLst/>
          </a:prstGeom>
          <a:solidFill>
            <a:srgbClr val="0F0F1C"/>
          </a:solidFill>
          <a:ln w="6350">
            <a:solidFill>
              <a:srgbClr val="2A2A3D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65760" y="5266944"/>
            <a:ext cx="109728" cy="38404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30352" y="534009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6B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Operations Director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2697480" y="534009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9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HR/Ops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4069080" y="5340096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Mart 5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5349240" y="5340096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Attendance compliance, shift patterns, overtime analysis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10561320" y="5340096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9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Weekly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365760" y="5687568"/>
            <a:ext cx="11430000" cy="384048"/>
          </a:xfrm>
          <a:prstGeom prst="rect">
            <a:avLst/>
          </a:prstGeom>
          <a:solidFill>
            <a:srgbClr val="13131F"/>
          </a:solidFill>
          <a:ln w="6350">
            <a:solidFill>
              <a:srgbClr val="2A2A3D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65760" y="5687568"/>
            <a:ext cx="109728" cy="384048"/>
          </a:xfrm>
          <a:prstGeom prst="rect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30352" y="576072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F5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BI Developer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2697480" y="5760720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9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4069080" y="5760720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Gold Schema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5349240" y="576072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Gold Layer — model development and DAX measure authoring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10561320" y="576072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9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Continuous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365760" y="6108192"/>
            <a:ext cx="11430000" cy="384048"/>
          </a:xfrm>
          <a:prstGeom prst="rect">
            <a:avLst/>
          </a:prstGeom>
          <a:solidFill>
            <a:srgbClr val="0F0F1C"/>
          </a:solidFill>
          <a:ln w="6350">
            <a:solidFill>
              <a:srgbClr val="2A2A3D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65760" y="6108192"/>
            <a:ext cx="109728" cy="384048"/>
          </a:xfrm>
          <a:prstGeom prst="rect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30352" y="618134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F5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 Analyst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2697480" y="6181344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9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4069080" y="6181344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Silver + Gold</a:t>
            </a:r>
            <a:endParaRPr lang="en-US" sz="800" dirty="0"/>
          </a:p>
        </p:txBody>
      </p:sp>
      <p:sp>
        <p:nvSpPr>
          <p:cNvPr id="95" name="Text 93"/>
          <p:cNvSpPr/>
          <p:nvPr/>
        </p:nvSpPr>
        <p:spPr>
          <a:xfrm>
            <a:off x="5349240" y="6181344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Ad-hoc analysis, new analytical questions, data quality monitoring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10561320" y="6181344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9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Continuous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03136"/>
            <a:ext cx="12161520" cy="54864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E8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 Governance &amp; Quality Standards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9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data quality is enforced across all layers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12700">
            <a:solidFill>
              <a:srgbClr val="2A2A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43000"/>
            <a:ext cx="3730752" cy="2606040"/>
          </a:xfrm>
          <a:prstGeom prst="rect">
            <a:avLst/>
          </a:prstGeom>
          <a:solidFill>
            <a:srgbClr val="13131F"/>
          </a:solidFill>
          <a:ln w="19050">
            <a:solidFill>
              <a:srgbClr val="00F5FF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" y="12344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5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🏷 Naming Conventions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" y="1563624"/>
            <a:ext cx="3520440" cy="0"/>
          </a:xfrm>
          <a:prstGeom prst="line">
            <a:avLst/>
          </a:prstGeom>
          <a:noFill/>
          <a:ln w="6350">
            <a:solidFill>
              <a:srgbClr val="2A2A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3776" y="1764792"/>
            <a:ext cx="64008" cy="64008"/>
          </a:xfrm>
          <a:prstGeom prst="ellipse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1673352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Gold tables: dim_ / fact_ / agg_ / bridge_ prefix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93776" y="2103120"/>
            <a:ext cx="64008" cy="64008"/>
          </a:xfrm>
          <a:prstGeom prst="ellipse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011680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Surrogate keys: _sk (INT) or _key (INT) suffix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93776" y="2441448"/>
            <a:ext cx="64008" cy="64008"/>
          </a:xfrm>
          <a:prstGeom prst="ellipse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2350008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Natural keys: _id suffix (VARCHAR, retained for traceability)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93776" y="2779776"/>
            <a:ext cx="64008" cy="64008"/>
          </a:xfrm>
          <a:prstGeom prst="ellipse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2688336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 columns: _date (DATE), _datetime (DATETIME)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93776" y="3118104"/>
            <a:ext cx="64008" cy="64008"/>
          </a:xfrm>
          <a:prstGeom prst="ellipse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3026664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Flag columns: is_ prefix (BIT), has_ prefix (BIT)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93776" y="3456432"/>
            <a:ext cx="64008" cy="64008"/>
          </a:xfrm>
          <a:prstGeom prst="ellipse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3364992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 Server schema: bronze / silver / gold separation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297680" y="1143000"/>
            <a:ext cx="3730752" cy="2606040"/>
          </a:xfrm>
          <a:prstGeom prst="rect">
            <a:avLst/>
          </a:prstGeom>
          <a:solidFill>
            <a:srgbClr val="13131F"/>
          </a:solidFill>
          <a:ln w="19050">
            <a:solidFill>
              <a:srgbClr val="FFD600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407408" y="12344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6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🚩 Quality Flag Standard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407408" y="1563624"/>
            <a:ext cx="3520440" cy="0"/>
          </a:xfrm>
          <a:prstGeom prst="line">
            <a:avLst/>
          </a:prstGeom>
          <a:noFill/>
          <a:ln w="6350">
            <a:solidFill>
              <a:srgbClr val="2A2A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25696" y="1764792"/>
            <a:ext cx="64008" cy="64008"/>
          </a:xfrm>
          <a:prstGeom prst="ellipse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53712" y="1673352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 — row meets all validation rules (safe to use)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425696" y="2103120"/>
            <a:ext cx="64008" cy="64008"/>
          </a:xfrm>
          <a:prstGeom prst="ellipse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53712" y="2011680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WARN — minor issue present (NULL optionals, edge case)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425696" y="2441448"/>
            <a:ext cx="64008" cy="64008"/>
          </a:xfrm>
          <a:prstGeom prst="ellipse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53712" y="2350008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 — critical issue (duplicate PK, null mandatory FK)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425696" y="2779776"/>
            <a:ext cx="64008" cy="64008"/>
          </a:xfrm>
          <a:prstGeom prst="ellipse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53712" y="2688336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Gold Layer excludes FAIL rows at INSERT time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425696" y="3118104"/>
            <a:ext cx="64008" cy="64008"/>
          </a:xfrm>
          <a:prstGeom prst="ellipse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53712" y="3026664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WARN rows are included but flagged for investigation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425696" y="3456432"/>
            <a:ext cx="64008" cy="64008"/>
          </a:xfrm>
          <a:prstGeom prst="ellipse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53712" y="3364992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 queries provided in each gold SQL script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8229600" y="1143000"/>
            <a:ext cx="3730752" cy="2606040"/>
          </a:xfrm>
          <a:prstGeom prst="rect">
            <a:avLst/>
          </a:prstGeom>
          <a:solidFill>
            <a:srgbClr val="13131F"/>
          </a:solidFill>
          <a:ln w="19050">
            <a:solidFill>
              <a:srgbClr val="BF00FF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8339328" y="12344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F00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🔄 SCD-2 Governance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339328" y="1563624"/>
            <a:ext cx="3520440" cy="0"/>
          </a:xfrm>
          <a:prstGeom prst="line">
            <a:avLst/>
          </a:prstGeom>
          <a:noFill/>
          <a:ln w="6350">
            <a:solidFill>
              <a:srgbClr val="2A2A3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357616" y="1764792"/>
            <a:ext cx="64008" cy="64008"/>
          </a:xfrm>
          <a:prstGeom prst="ellipse">
            <a:avLst/>
          </a:prstGeom>
          <a:solidFill>
            <a:srgbClr val="BF00FF"/>
          </a:solidFill>
          <a:ln w="12700">
            <a:solidFill>
              <a:srgbClr val="BF00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485632" y="1673352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valid_from / valid_to on all SCD-2 dimensions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8357616" y="2103120"/>
            <a:ext cx="64008" cy="64008"/>
          </a:xfrm>
          <a:prstGeom prst="ellipse">
            <a:avLst/>
          </a:prstGeom>
          <a:solidFill>
            <a:srgbClr val="BF00FF"/>
          </a:solidFill>
          <a:ln w="12700">
            <a:solidFill>
              <a:srgbClr val="BF00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485632" y="2011680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is_current_version = 1 for active record filter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8357616" y="2441448"/>
            <a:ext cx="64008" cy="64008"/>
          </a:xfrm>
          <a:prstGeom prst="ellipse">
            <a:avLst/>
          </a:prstGeom>
          <a:solidFill>
            <a:srgbClr val="BF00FF"/>
          </a:solidFill>
          <a:ln w="12700">
            <a:solidFill>
              <a:srgbClr val="BF00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485632" y="2350008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Fact tables join on: FK AND date BETWEEN valid_from AND valid_to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8357616" y="2779776"/>
            <a:ext cx="64008" cy="64008"/>
          </a:xfrm>
          <a:prstGeom prst="ellipse">
            <a:avLst/>
          </a:prstGeom>
          <a:solidFill>
            <a:srgbClr val="BF00FF"/>
          </a:solidFill>
          <a:ln w="12700">
            <a:solidFill>
              <a:srgbClr val="BF00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485632" y="2688336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version inserted (never UPDATE existing row)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8357616" y="3118104"/>
            <a:ext cx="64008" cy="64008"/>
          </a:xfrm>
          <a:prstGeom prst="ellipse">
            <a:avLst/>
          </a:prstGeom>
          <a:solidFill>
            <a:srgbClr val="BF00FF"/>
          </a:solidFill>
          <a:ln w="12700">
            <a:solidFill>
              <a:srgbClr val="BF00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485632" y="3026664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Applies to: dim_product, dim_store, dim_employee, dim_supplier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8357616" y="3456432"/>
            <a:ext cx="64008" cy="64008"/>
          </a:xfrm>
          <a:prstGeom prst="ellipse">
            <a:avLst/>
          </a:prstGeom>
          <a:solidFill>
            <a:srgbClr val="BF00FF"/>
          </a:solidFill>
          <a:ln w="12700">
            <a:solidFill>
              <a:srgbClr val="BF00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485632" y="3364992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Bridge tables resolve SCD-2 for Power BI relationships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65760" y="3867912"/>
            <a:ext cx="3730752" cy="2606040"/>
          </a:xfrm>
          <a:prstGeom prst="rect">
            <a:avLst/>
          </a:prstGeom>
          <a:solidFill>
            <a:srgbClr val="13131F"/>
          </a:solidFill>
          <a:ln w="19050">
            <a:solidFill>
              <a:srgbClr val="00FF88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475488" y="395935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F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🔑 Surrogate Key Standards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75488" y="4288536"/>
            <a:ext cx="3520440" cy="0"/>
          </a:xfrm>
          <a:prstGeom prst="line">
            <a:avLst/>
          </a:prstGeom>
          <a:noFill/>
          <a:ln w="6350">
            <a:solidFill>
              <a:srgbClr val="2A2A3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93776" y="4489704"/>
            <a:ext cx="64008" cy="64008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21792" y="4398264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dim PKs are INT IDENTITY(1,1) — auto-generated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93776" y="4828032"/>
            <a:ext cx="64008" cy="64008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1792" y="4736592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SK=-1 reserved for Unknown/Not-Applicable member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93776" y="5166360"/>
            <a:ext cx="64008" cy="64008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21792" y="5074920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Walk-in customers: customer_key SK=-1 (no NULLs in facts)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493776" y="5504688"/>
            <a:ext cx="64008" cy="64008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21792" y="5413248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campaign: campaign_key SK=-1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493776" y="5843016"/>
            <a:ext cx="64008" cy="64008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21792" y="5751576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Fact FKs are INT — no VARCHAR surrogate joins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493776" y="6181344"/>
            <a:ext cx="64008" cy="64008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21792" y="6089904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Natural keys retained as alternate keys for audit trail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297680" y="3867912"/>
            <a:ext cx="3730752" cy="2606040"/>
          </a:xfrm>
          <a:prstGeom prst="rect">
            <a:avLst/>
          </a:prstGeom>
          <a:solidFill>
            <a:srgbClr val="13131F"/>
          </a:solidFill>
          <a:ln w="19050">
            <a:solidFill>
              <a:srgbClr val="FF6B00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4407408" y="395935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📄 Documentation Standards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4407408" y="4288536"/>
            <a:ext cx="3520440" cy="0"/>
          </a:xfrm>
          <a:prstGeom prst="line">
            <a:avLst/>
          </a:prstGeom>
          <a:noFill/>
          <a:ln w="6350">
            <a:solidFill>
              <a:srgbClr val="2A2A3D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425696" y="4489704"/>
            <a:ext cx="64008" cy="64008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553712" y="4398264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column documented in Silver Metadata Dictionary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4425696" y="4828032"/>
            <a:ext cx="64008" cy="64008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553712" y="4736592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gold table has declared grain in blueprint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4425696" y="5166360"/>
            <a:ext cx="64008" cy="64008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553712" y="5074920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ETL script has inline comments per CTE step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4425696" y="5504688"/>
            <a:ext cx="64008" cy="64008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553712" y="5413248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Post-load validation queries ship with every fact script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4425696" y="5843016"/>
            <a:ext cx="64008" cy="64008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553712" y="5751576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 matrix reflects actual model.bim relationships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4425696" y="6181344"/>
            <a:ext cx="64008" cy="64008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553712" y="6089904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BRD (this doc) version-controlled with SQL scripts in GitHub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8229600" y="3867912"/>
            <a:ext cx="3730752" cy="2606040"/>
          </a:xfrm>
          <a:prstGeom prst="rect">
            <a:avLst/>
          </a:prstGeom>
          <a:solidFill>
            <a:srgbClr val="13131F"/>
          </a:solidFill>
          <a:ln w="19050">
            <a:solidFill>
              <a:srgbClr val="FF2D6B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83" name="Text 81"/>
          <p:cNvSpPr/>
          <p:nvPr/>
        </p:nvSpPr>
        <p:spPr>
          <a:xfrm>
            <a:off x="8339328" y="395935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2D6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📊 Power BI Model Standards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8339328" y="4288536"/>
            <a:ext cx="3520440" cy="0"/>
          </a:xfrm>
          <a:prstGeom prst="line">
            <a:avLst/>
          </a:prstGeom>
          <a:noFill/>
          <a:ln w="6350">
            <a:solidFill>
              <a:srgbClr val="2A2A3D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357616" y="4489704"/>
            <a:ext cx="64008" cy="64008"/>
          </a:xfrm>
          <a:prstGeom prst="ellipse">
            <a:avLst/>
          </a:prstGeom>
          <a:solidFill>
            <a:srgbClr val="FF2D6B"/>
          </a:solidFill>
          <a:ln w="12700">
            <a:solidFill>
              <a:srgbClr val="FF2D6B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485632" y="4398264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dim_date marked as Date Table (full_date column)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8357616" y="4828032"/>
            <a:ext cx="64008" cy="64008"/>
          </a:xfrm>
          <a:prstGeom prst="ellipse">
            <a:avLst/>
          </a:prstGeom>
          <a:solidFill>
            <a:srgbClr val="FF2D6B"/>
          </a:solidFill>
          <a:ln w="12700">
            <a:solidFill>
              <a:srgbClr val="FF2D6B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485632" y="4736592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 date/time disabled in Power BI Desktop options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8357616" y="5166360"/>
            <a:ext cx="64008" cy="64008"/>
          </a:xfrm>
          <a:prstGeom prst="ellipse">
            <a:avLst/>
          </a:prstGeom>
          <a:solidFill>
            <a:srgbClr val="FF2D6B"/>
          </a:solidFill>
          <a:ln w="12700">
            <a:solidFill>
              <a:srgbClr val="FF2D6B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485632" y="5074920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_sk FK columns hidden from Report view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8357616" y="5504688"/>
            <a:ext cx="64008" cy="64008"/>
          </a:xfrm>
          <a:prstGeom prst="ellipse">
            <a:avLst/>
          </a:prstGeom>
          <a:solidFill>
            <a:srgbClr val="FF2D6B"/>
          </a:solidFill>
          <a:ln w="12700">
            <a:solidFill>
              <a:srgbClr val="FF2D6B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485632" y="5413248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Import mode only — no DirectQuery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8357616" y="5843016"/>
            <a:ext cx="64008" cy="64008"/>
          </a:xfrm>
          <a:prstGeom prst="ellipse">
            <a:avLst/>
          </a:prstGeom>
          <a:solidFill>
            <a:srgbClr val="FF2D6B"/>
          </a:solidFill>
          <a:ln w="12700">
            <a:solidFill>
              <a:srgbClr val="FF2D6B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485632" y="5751576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 cross-filter on all dim→fact relationships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8357616" y="6181344"/>
            <a:ext cx="64008" cy="64008"/>
          </a:xfrm>
          <a:prstGeom prst="ellipse">
            <a:avLst/>
          </a:prstGeom>
          <a:solidFill>
            <a:srgbClr val="FF2D6B"/>
          </a:solidFill>
          <a:ln w="12700">
            <a:solidFill>
              <a:srgbClr val="FF2D6B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8485632" y="6089904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Bidirectional only: bridge tables and junk dims where needed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03136"/>
            <a:ext cx="12161520" cy="54864"/>
          </a:xfrm>
          <a:prstGeom prst="rect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E8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Technical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9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 Server + Power BI stack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12700">
            <a:solidFill>
              <a:srgbClr val="2A2A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34440"/>
            <a:ext cx="3474720" cy="1645920"/>
          </a:xfrm>
          <a:prstGeom prst="rect">
            <a:avLst/>
          </a:prstGeom>
          <a:solidFill>
            <a:srgbClr val="13131F"/>
          </a:solidFill>
          <a:ln w="19050">
            <a:solidFill>
              <a:srgbClr val="FF6B00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34440"/>
            <a:ext cx="3474720" cy="34747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289304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6B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Source / Bronze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5488" y="1673352"/>
            <a:ext cx="325526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 Server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Blue_canopy database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Server: junior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bronze schema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 raw tables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069080" y="1234440"/>
            <a:ext cx="3474720" cy="1645920"/>
          </a:xfrm>
          <a:prstGeom prst="rect">
            <a:avLst/>
          </a:prstGeom>
          <a:solidFill>
            <a:srgbClr val="13131F"/>
          </a:solidFill>
          <a:ln w="19050">
            <a:solidFill>
              <a:srgbClr val="FFD600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069080" y="1234440"/>
            <a:ext cx="3474720" cy="347472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78808" y="1289304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D6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ETL / Silver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78808" y="1673352"/>
            <a:ext cx="325526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 Server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Silver Schema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Stored Procedures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T-SQL Transformations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Quality Flagging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772400" y="1234440"/>
            <a:ext cx="4023360" cy="1645920"/>
          </a:xfrm>
          <a:prstGeom prst="rect">
            <a:avLst/>
          </a:prstGeom>
          <a:solidFill>
            <a:srgbClr val="13131F"/>
          </a:solidFill>
          <a:ln w="19050">
            <a:solidFill>
              <a:srgbClr val="00F5FF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0" y="1234440"/>
            <a:ext cx="4023360" cy="347472"/>
          </a:xfrm>
          <a:prstGeom prst="rect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82128" y="1289304"/>
            <a:ext cx="3803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F5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Gold / Semantic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882128" y="1673352"/>
            <a:ext cx="380390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 Server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Gold Schema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 Schema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dim_ + fact_ tables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Surrogate Keys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A2A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▶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6092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A2A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▶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5760" y="3090672"/>
            <a:ext cx="11430000" cy="1280160"/>
          </a:xfrm>
          <a:prstGeom prst="rect">
            <a:avLst/>
          </a:prstGeom>
          <a:solidFill>
            <a:srgbClr val="13131F"/>
          </a:solidFill>
          <a:ln w="19050">
            <a:solidFill>
              <a:srgbClr val="BF00FF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090672"/>
            <a:ext cx="11430000" cy="347472"/>
          </a:xfrm>
          <a:prstGeom prst="rect">
            <a:avLst/>
          </a:prstGeom>
          <a:solidFill>
            <a:srgbClr val="BF00FF"/>
          </a:solidFill>
          <a:ln w="12700">
            <a:solidFill>
              <a:srgbClr val="BF00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13639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F00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POWER BI SEMANTIC LAYER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30352" y="3520440"/>
            <a:ext cx="2148840" cy="713232"/>
          </a:xfrm>
          <a:prstGeom prst="rect">
            <a:avLst/>
          </a:prstGeom>
          <a:solidFill>
            <a:srgbClr val="13131F"/>
          </a:solidFill>
          <a:ln w="19050">
            <a:solidFill>
              <a:srgbClr val="BF00FF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03504" y="35661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Mart 1: Sales &amp; Revenue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779776" y="3520440"/>
            <a:ext cx="2148840" cy="713232"/>
          </a:xfrm>
          <a:prstGeom prst="rect">
            <a:avLst/>
          </a:prstGeom>
          <a:solidFill>
            <a:srgbClr val="13131F"/>
          </a:solidFill>
          <a:ln w="19050">
            <a:solidFill>
              <a:srgbClr val="BF00FF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852928" y="35661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Mart 2: Customer &amp; Loyalty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029200" y="3520440"/>
            <a:ext cx="2148840" cy="713232"/>
          </a:xfrm>
          <a:prstGeom prst="rect">
            <a:avLst/>
          </a:prstGeom>
          <a:solidFill>
            <a:srgbClr val="13131F"/>
          </a:solidFill>
          <a:ln w="19050">
            <a:solidFill>
              <a:srgbClr val="BF00FF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102352" y="35661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Mart 3: Inventory &amp; SC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278624" y="3520440"/>
            <a:ext cx="2148840" cy="713232"/>
          </a:xfrm>
          <a:prstGeom prst="rect">
            <a:avLst/>
          </a:prstGeom>
          <a:solidFill>
            <a:srgbClr val="13131F"/>
          </a:solidFill>
          <a:ln w="19050">
            <a:solidFill>
              <a:srgbClr val="BF00FF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351776" y="35661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Mart 4: Finance &amp; P&amp;L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9528048" y="3520440"/>
            <a:ext cx="2148840" cy="713232"/>
          </a:xfrm>
          <a:prstGeom prst="rect">
            <a:avLst/>
          </a:prstGeom>
          <a:solidFill>
            <a:srgbClr val="13131F"/>
          </a:solidFill>
          <a:ln w="19050">
            <a:solidFill>
              <a:srgbClr val="BF00FF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601200" y="35661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Mart 5: HR &amp; Workforce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65760" y="4526280"/>
            <a:ext cx="11430000" cy="1965960"/>
          </a:xfrm>
          <a:prstGeom prst="rect">
            <a:avLst/>
          </a:prstGeom>
          <a:solidFill>
            <a:srgbClr val="13131F"/>
          </a:solidFill>
          <a:ln w="19050">
            <a:solidFill>
              <a:srgbClr val="00F5FF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02920" y="461772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F5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TECHNICAL SPECIFICATIONS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02920" y="489204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F5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Database: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331720" y="489204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 Server (on-premise, server: junior)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217920" y="489204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F5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Database Name: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046720" y="489204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Blue_canopy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02920" y="52760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F5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Schemas: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331720" y="527608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bronze · silver · gold (3 dedicated schemas)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217920" y="52760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BF00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Power BI Version: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046720" y="527608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2.139.2054.0 (Dec 2024) — model.bim compatibilityLevel 1567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02920" y="566013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BF00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Storage Mode: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331720" y="566013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Import mode — all Gold tables loaded into VertiPaq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217920" y="566013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BF00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Refresh Pattern: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8046720" y="566013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refresh via gold.usp_load_fact_pos_sales (stored procedure)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02920" y="60441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FF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Relationship Keys: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331720" y="604418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 surrogate keys — no VARCHAR joins in Power BI model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217920" y="60441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FF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Time Intelligence: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8046720" y="604418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dim_date marked as Date Table — auto date/time disabled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03136"/>
            <a:ext cx="12161520" cy="54864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E8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Implementation Roadmap — 5 Phases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9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sequence and key milestones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12700">
            <a:solidFill>
              <a:srgbClr val="2A2A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43000"/>
            <a:ext cx="11430000" cy="914400"/>
          </a:xfrm>
          <a:prstGeom prst="rect">
            <a:avLst/>
          </a:prstGeom>
          <a:solidFill>
            <a:srgbClr val="13131F"/>
          </a:solidFill>
          <a:ln w="19050">
            <a:solidFill>
              <a:srgbClr val="00F5FF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143000"/>
            <a:ext cx="1005840" cy="914400"/>
          </a:xfrm>
          <a:prstGeom prst="rect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39903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F5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81328" y="12161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5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Phase 1: Foundation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481328" y="147218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9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Dimensions &amp; Date Spine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212080" y="1234440"/>
            <a:ext cx="0" cy="731520"/>
          </a:xfrm>
          <a:prstGeom prst="line">
            <a:avLst/>
          </a:prstGeom>
          <a:noFill/>
          <a:ln w="12700">
            <a:solidFill>
              <a:srgbClr val="2A2A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49240" y="1216152"/>
            <a:ext cx="6355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Generate dim_date (SQL date spine 2018–2027 + KE holidays)  · Build dim_store (SCD-2 + GIS enrichment)  · Build dim_customers (walk-in merge, is_churned flag)  · Build dim_product (SCD-2 version history)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349240" y="1618488"/>
            <a:ext cx="6355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Build dim_employee (SCD-2 salary/role tracking)  · Build dim_supplier, dim_campaign, dim_promotion  · Build dim_counties (geography reference)  · Unit test: unique SKs, no NULL FK values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65760" y="2167128"/>
            <a:ext cx="11430000" cy="914400"/>
          </a:xfrm>
          <a:prstGeom prst="rect">
            <a:avLst/>
          </a:prstGeom>
          <a:solidFill>
            <a:srgbClr val="13131F"/>
          </a:solidFill>
          <a:ln w="19050">
            <a:solidFill>
              <a:srgbClr val="00FF88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67128"/>
            <a:ext cx="1005840" cy="91440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42316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FF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81328" y="22402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F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Phase 2: Core Sales Facts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481328" y="249631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9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 &amp; Returns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212080" y="2258568"/>
            <a:ext cx="0" cy="731520"/>
          </a:xfrm>
          <a:prstGeom prst="line">
            <a:avLst/>
          </a:prstGeom>
          <a:noFill/>
          <a:ln w="12700">
            <a:solidFill>
              <a:srgbClr val="2A2A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49240" y="2240280"/>
            <a:ext cx="6355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Build pos_fact_sales (POS lines + SCD-2 joins + SCD bridges)  · Build fact_ecommerce_orders (order lines + junk dim + returns embedded)  · Build promotion_factless_fact (coverage table)  · Build campaign_fact (budget/spend measures)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349240" y="2642616"/>
            <a:ext cx="6355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Integration test: SUM(pos_fact_sales) reconciles silver.store_daily_financials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65760" y="2999232"/>
            <a:ext cx="11430000" cy="914400"/>
          </a:xfrm>
          <a:prstGeom prst="rect">
            <a:avLst/>
          </a:prstGeom>
          <a:solidFill>
            <a:srgbClr val="13131F"/>
          </a:solidFill>
          <a:ln w="19050">
            <a:solidFill>
              <a:srgbClr val="BF00FF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2999232"/>
            <a:ext cx="1005840" cy="914400"/>
          </a:xfrm>
          <a:prstGeom prst="rect">
            <a:avLst/>
          </a:prstGeom>
          <a:solidFill>
            <a:srgbClr val="BF00FF"/>
          </a:solidFill>
          <a:ln w="12700">
            <a:solidFill>
              <a:srgbClr val="BF00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5526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F00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P3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481328" y="30723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F00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Phase 3: Extended Facts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481328" y="33284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9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Inventory, Procurement &amp; Loyalty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212080" y="3090672"/>
            <a:ext cx="0" cy="731520"/>
          </a:xfrm>
          <a:prstGeom prst="line">
            <a:avLst/>
          </a:prstGeom>
          <a:noFill/>
          <a:ln w="12700">
            <a:solidFill>
              <a:srgbClr val="2A2A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49240" y="3072384"/>
            <a:ext cx="6355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Build fact_inventory_movements (store+product bridge joins)  · Build fact_inventory_snapshots (periodic snapshot)  · Build fact_purchase_orders (accumulating snapshot + two junk dims + goods receipts)  · Build fact_loyalty_transactions + dim_loyalty_transactions (junk)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349240" y="3474720"/>
            <a:ext cx="6355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Build fact_gift_card_transactions + dim_gift_cards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65760" y="3822192"/>
            <a:ext cx="11430000" cy="914400"/>
          </a:xfrm>
          <a:prstGeom prst="rect">
            <a:avLst/>
          </a:prstGeom>
          <a:solidFill>
            <a:srgbClr val="13131F"/>
          </a:solidFill>
          <a:ln w="19050">
            <a:solidFill>
              <a:srgbClr val="FFD600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65760" y="3822192"/>
            <a:ext cx="1005840" cy="914400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7822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D6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P4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1481328" y="38953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6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Phase 4: Finance &amp; Analytics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481328" y="41513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9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GL, Competitors &amp; Economic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212080" y="3913632"/>
            <a:ext cx="0" cy="731520"/>
          </a:xfrm>
          <a:prstGeom prst="line">
            <a:avLst/>
          </a:prstGeom>
          <a:noFill/>
          <a:ln w="12700">
            <a:solidFill>
              <a:srgbClr val="2A2A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49240" y="3895344"/>
            <a:ext cx="6355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Build fact_stores_ledger (GL transactions + dim_gl_accounts)  · Build fact_store_daily_financials (daily P&amp;L snapshot)  · Build fact_competitors_performance + dim_competitors + dim_competitors_stores  · Build fact_economic_data + dim_counties (macro indicators)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349240" y="4297680"/>
            <a:ext cx="6355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Build fact_customer_exp + dim_cust_exp (junk/mini-dim, bidirectional)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65760" y="4645152"/>
            <a:ext cx="11430000" cy="914400"/>
          </a:xfrm>
          <a:prstGeom prst="rect">
            <a:avLst/>
          </a:prstGeom>
          <a:solidFill>
            <a:srgbClr val="13131F"/>
          </a:solidFill>
          <a:ln w="19050">
            <a:solidFill>
              <a:srgbClr val="FF2D6B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65760" y="4645152"/>
            <a:ext cx="1005840" cy="914400"/>
          </a:xfrm>
          <a:prstGeom prst="rect">
            <a:avLst/>
          </a:prstGeom>
          <a:solidFill>
            <a:srgbClr val="FF2D6B"/>
          </a:solidFill>
          <a:ln w="12700">
            <a:solidFill>
              <a:srgbClr val="FF2D6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90118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2D6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P5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1481328" y="47183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2D6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Phase 5: Power BI Modelling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481328" y="497433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9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Semantic Models &amp; DAX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212080" y="4736592"/>
            <a:ext cx="0" cy="731520"/>
          </a:xfrm>
          <a:prstGeom prst="line">
            <a:avLst/>
          </a:prstGeom>
          <a:noFill/>
          <a:ln w="12700">
            <a:solidFill>
              <a:srgbClr val="2A2A3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49240" y="4718304"/>
            <a:ext cx="6355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Connect Power BI to Gold schema (Import mode)  · Define all relationships (INT SK joins, single cross-filter)  · Mark dim_date as Date Table, disable auto date/time  · Build 5 semantic models (one per mart)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5349240" y="5120640"/>
            <a:ext cx="6355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Author DAX measures: Revenue, Margin, YoY, OTD Rate etc.  · Apply Blue Canopy neon dark theme, hide FK columns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FF2D6B"/>
          </a:solidFill>
          <a:ln w="12700">
            <a:solidFill>
              <a:srgbClr val="FF2D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03136"/>
            <a:ext cx="12161520" cy="54864"/>
          </a:xfrm>
          <a:prstGeom prst="rect">
            <a:avLst/>
          </a:prstGeom>
          <a:solidFill>
            <a:srgbClr val="FF2D6B"/>
          </a:solidFill>
          <a:ln w="12700">
            <a:solidFill>
              <a:srgbClr val="FF2D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E8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Risks &amp; Mitigations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9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Known risks identified during analysis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12700">
            <a:solidFill>
              <a:srgbClr val="2A2A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43000"/>
            <a:ext cx="11430000" cy="292608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17043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F5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78992" y="1170432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F5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Risk Description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693408" y="1170432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F5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Impact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699248" y="117043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F5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Probability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613648" y="1170432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F5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Mitigation Strategy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65760" y="1463040"/>
            <a:ext cx="11430000" cy="621792"/>
          </a:xfrm>
          <a:prstGeom prst="rect">
            <a:avLst/>
          </a:prstGeom>
          <a:solidFill>
            <a:srgbClr val="13131F"/>
          </a:solidFill>
          <a:ln w="6350">
            <a:solidFill>
              <a:srgbClr val="2A2A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1463040"/>
            <a:ext cx="91440" cy="621792"/>
          </a:xfrm>
          <a:prstGeom prst="rect">
            <a:avLst/>
          </a:prstGeom>
          <a:solidFill>
            <a:srgbClr val="FF2D6B"/>
          </a:solidFill>
          <a:ln w="12700">
            <a:solidFill>
              <a:srgbClr val="FF2D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162763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2D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R01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078992" y="150876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SCD-2 date-range joins not correctly filtering to transaction date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720840" y="1645920"/>
            <a:ext cx="868680" cy="237744"/>
          </a:xfrm>
          <a:prstGeom prst="roundRect">
            <a:avLst>
              <a:gd name="adj" fmla="val 15385"/>
            </a:avLst>
          </a:prstGeom>
          <a:solidFill>
            <a:srgbClr val="FF2D6B"/>
          </a:solidFill>
          <a:ln w="6350">
            <a:solidFill>
              <a:srgbClr val="FF2D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0840" y="164592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2D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7726680" y="1645920"/>
            <a:ext cx="841248" cy="237744"/>
          </a:xfrm>
          <a:prstGeom prst="roundRect">
            <a:avLst>
              <a:gd name="adj" fmla="val 15385"/>
            </a:avLst>
          </a:prstGeom>
          <a:solidFill>
            <a:srgbClr val="FFD600"/>
          </a:solidFill>
          <a:ln w="6350">
            <a:solidFill>
              <a:srgbClr val="FFD6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26680" y="1645920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D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8641080" y="1508760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validation query: COUNT(*) of fact rows with no matching dim version. Target = 0. Run after every Gold load.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65760" y="2121408"/>
            <a:ext cx="11430000" cy="621792"/>
          </a:xfrm>
          <a:prstGeom prst="rect">
            <a:avLst/>
          </a:prstGeom>
          <a:solidFill>
            <a:srgbClr val="0F0F1C"/>
          </a:solidFill>
          <a:ln w="6350">
            <a:solidFill>
              <a:srgbClr val="2A2A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2121408"/>
            <a:ext cx="91440" cy="621792"/>
          </a:xfrm>
          <a:prstGeom prst="rect">
            <a:avLst/>
          </a:prstGeom>
          <a:solidFill>
            <a:srgbClr val="FF2D6B"/>
          </a:solidFill>
          <a:ln w="12700">
            <a:solidFill>
              <a:srgbClr val="FF2D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228600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2D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R02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078992" y="2167128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Majority of facts using LocalDateTable instead of dim_date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720840" y="2304288"/>
            <a:ext cx="868680" cy="237744"/>
          </a:xfrm>
          <a:prstGeom prst="roundRect">
            <a:avLst>
              <a:gd name="adj" fmla="val 15385"/>
            </a:avLst>
          </a:prstGeom>
          <a:solidFill>
            <a:srgbClr val="FF2D6B"/>
          </a:solidFill>
          <a:ln w="6350">
            <a:solidFill>
              <a:srgbClr val="FF2D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20840" y="230428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2D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7726680" y="2304288"/>
            <a:ext cx="841248" cy="237744"/>
          </a:xfrm>
          <a:prstGeom prst="roundRect">
            <a:avLst>
              <a:gd name="adj" fmla="val 15385"/>
            </a:avLst>
          </a:prstGeom>
          <a:solidFill>
            <a:srgbClr val="FF2D6B"/>
          </a:solidFill>
          <a:ln w="6350">
            <a:solidFill>
              <a:srgbClr val="FF2D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26680" y="2304288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2D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Confirmed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8641080" y="2167128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Re-route all date columns in remaining facts to active dim_date relationship. Disable Power BI auto date/time globally.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65760" y="2779776"/>
            <a:ext cx="11430000" cy="621792"/>
          </a:xfrm>
          <a:prstGeom prst="rect">
            <a:avLst/>
          </a:prstGeom>
          <a:solidFill>
            <a:srgbClr val="13131F"/>
          </a:solidFill>
          <a:ln w="6350">
            <a:solidFill>
              <a:srgbClr val="2A2A3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2779776"/>
            <a:ext cx="91440" cy="621792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" y="294436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D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R03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078992" y="2825496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dim_loyalty_transactions (junk) has no relationship defined to fact in model.bim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720840" y="2962656"/>
            <a:ext cx="868680" cy="237744"/>
          </a:xfrm>
          <a:prstGeom prst="roundRect">
            <a:avLst>
              <a:gd name="adj" fmla="val 15385"/>
            </a:avLst>
          </a:prstGeom>
          <a:solidFill>
            <a:srgbClr val="FFD600"/>
          </a:solidFill>
          <a:ln w="6350">
            <a:solidFill>
              <a:srgbClr val="FFD6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20840" y="296265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D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7726680" y="2962656"/>
            <a:ext cx="841248" cy="237744"/>
          </a:xfrm>
          <a:prstGeom prst="roundRect">
            <a:avLst>
              <a:gd name="adj" fmla="val 15385"/>
            </a:avLst>
          </a:prstGeom>
          <a:solidFill>
            <a:srgbClr val="FF2D6B"/>
          </a:solidFill>
          <a:ln w="6350">
            <a:solidFill>
              <a:srgbClr val="FF2D6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26680" y="2962656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2D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Confirmed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8641080" y="2825496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FK relationship: fact_loyalty_transactions.[loyalty_key?] → dim_loyalty_transactions.loyalty_key. Verify join column name.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65760" y="3438144"/>
            <a:ext cx="11430000" cy="621792"/>
          </a:xfrm>
          <a:prstGeom prst="rect">
            <a:avLst/>
          </a:prstGeom>
          <a:solidFill>
            <a:srgbClr val="0F0F1C"/>
          </a:solidFill>
          <a:ln w="6350">
            <a:solidFill>
              <a:srgbClr val="2A2A3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65760" y="3438144"/>
            <a:ext cx="91440" cy="621792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" y="360273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D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R04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1078992" y="3483864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E-commerce fact embeds returns — grain mixing (order line + return on same row)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720840" y="3621024"/>
            <a:ext cx="868680" cy="237744"/>
          </a:xfrm>
          <a:prstGeom prst="roundRect">
            <a:avLst>
              <a:gd name="adj" fmla="val 15385"/>
            </a:avLst>
          </a:prstGeom>
          <a:solidFill>
            <a:srgbClr val="FFD600"/>
          </a:solidFill>
          <a:ln w="6350">
            <a:solidFill>
              <a:srgbClr val="FFD6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20840" y="362102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D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7726680" y="3621024"/>
            <a:ext cx="841248" cy="237744"/>
          </a:xfrm>
          <a:prstGeom prst="roundRect">
            <a:avLst>
              <a:gd name="adj" fmla="val 15385"/>
            </a:avLst>
          </a:prstGeom>
          <a:solidFill>
            <a:srgbClr val="FF2D6B"/>
          </a:solidFill>
          <a:ln w="6350">
            <a:solidFill>
              <a:srgbClr val="FF2D6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726680" y="3621024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2D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Confirmed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8641080" y="3483864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Consider separating into fact_ecommerce_orders and fact_ecommerce_returns for clean grain. Current design acceptable for MVP.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365760" y="4096512"/>
            <a:ext cx="11430000" cy="621792"/>
          </a:xfrm>
          <a:prstGeom prst="rect">
            <a:avLst/>
          </a:prstGeom>
          <a:solidFill>
            <a:srgbClr val="13131F"/>
          </a:solidFill>
          <a:ln w="6350">
            <a:solidFill>
              <a:srgbClr val="2A2A3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65760" y="4096512"/>
            <a:ext cx="91440" cy="621792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5488" y="426110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D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R05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1078992" y="4142232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campaign_fact bidirectional with dim_campaign may cause ambiguous filter paths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720840" y="4279392"/>
            <a:ext cx="868680" cy="237744"/>
          </a:xfrm>
          <a:prstGeom prst="roundRect">
            <a:avLst>
              <a:gd name="adj" fmla="val 15385"/>
            </a:avLst>
          </a:prstGeom>
          <a:solidFill>
            <a:srgbClr val="FFD600"/>
          </a:solidFill>
          <a:ln w="6350">
            <a:solidFill>
              <a:srgbClr val="FFD6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720840" y="42793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D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7726680" y="4279392"/>
            <a:ext cx="841248" cy="237744"/>
          </a:xfrm>
          <a:prstGeom prst="roundRect">
            <a:avLst>
              <a:gd name="adj" fmla="val 15385"/>
            </a:avLst>
          </a:prstGeom>
          <a:solidFill>
            <a:srgbClr val="FFD600"/>
          </a:solidFill>
          <a:ln w="6350">
            <a:solidFill>
              <a:srgbClr val="FFD6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726680" y="4279392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D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8641080" y="4142232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Verify no other fact table connected to dim_campaign. If pos_fact_sales later connects, change campaign_fact to single direction.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365760" y="4754880"/>
            <a:ext cx="11430000" cy="621792"/>
          </a:xfrm>
          <a:prstGeom prst="rect">
            <a:avLst/>
          </a:prstGeom>
          <a:solidFill>
            <a:srgbClr val="0F0F1C"/>
          </a:solidFill>
          <a:ln w="6350">
            <a:solidFill>
              <a:srgbClr val="2A2A3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65760" y="4754880"/>
            <a:ext cx="91440" cy="621792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75488" y="491947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R06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1078992" y="480060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dim_store joins dim_counties via VARCHAR county (string join, not INT SK)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720840" y="4937760"/>
            <a:ext cx="868680" cy="237744"/>
          </a:xfrm>
          <a:prstGeom prst="roundRect">
            <a:avLst>
              <a:gd name="adj" fmla="val 15385"/>
            </a:avLst>
          </a:prstGeom>
          <a:solidFill>
            <a:srgbClr val="00FF88"/>
          </a:solidFill>
          <a:ln w="6350">
            <a:solidFill>
              <a:srgbClr val="00FF8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720840" y="493776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FF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7726680" y="4937760"/>
            <a:ext cx="841248" cy="237744"/>
          </a:xfrm>
          <a:prstGeom prst="roundRect">
            <a:avLst>
              <a:gd name="adj" fmla="val 15385"/>
            </a:avLst>
          </a:prstGeom>
          <a:solidFill>
            <a:srgbClr val="FF2D6B"/>
          </a:solidFill>
          <a:ln w="6350">
            <a:solidFill>
              <a:srgbClr val="FF2D6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726680" y="4937760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2D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Confirmed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8641080" y="4800600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county_key INT to dim_store by joining dim_counties at dim_store build time. Replace string join with INT SK join.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365760" y="5413248"/>
            <a:ext cx="11430000" cy="621792"/>
          </a:xfrm>
          <a:prstGeom prst="rect">
            <a:avLst/>
          </a:prstGeom>
          <a:solidFill>
            <a:srgbClr val="13131F"/>
          </a:solidFill>
          <a:ln w="6350">
            <a:solidFill>
              <a:srgbClr val="2A2A3D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65760" y="5413248"/>
            <a:ext cx="91440" cy="621792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75488" y="557784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R07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1078992" y="5458968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fact_competitor_performance has no date relationship — quarter stored as VARCHAR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6720840" y="5596128"/>
            <a:ext cx="868680" cy="237744"/>
          </a:xfrm>
          <a:prstGeom prst="roundRect">
            <a:avLst>
              <a:gd name="adj" fmla="val 15385"/>
            </a:avLst>
          </a:prstGeom>
          <a:solidFill>
            <a:srgbClr val="00FF88"/>
          </a:solidFill>
          <a:ln w="6350">
            <a:solidFill>
              <a:srgbClr val="00FF8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720840" y="559612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FF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7726680" y="5596128"/>
            <a:ext cx="841248" cy="237744"/>
          </a:xfrm>
          <a:prstGeom prst="roundRect">
            <a:avLst>
              <a:gd name="adj" fmla="val 15385"/>
            </a:avLst>
          </a:prstGeom>
          <a:solidFill>
            <a:srgbClr val="FF2D6B"/>
          </a:solidFill>
          <a:ln w="6350">
            <a:solidFill>
              <a:srgbClr val="FF2D6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726680" y="5596128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2D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Confirmed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8641080" y="5458968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date_sk to fact_competitors_performance by parsing year+quarter into dim_date.year_month or creating a quarter dim.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365760" y="6071616"/>
            <a:ext cx="11430000" cy="621792"/>
          </a:xfrm>
          <a:prstGeom prst="rect">
            <a:avLst/>
          </a:prstGeom>
          <a:solidFill>
            <a:srgbClr val="0F0F1C"/>
          </a:solidFill>
          <a:ln w="6350">
            <a:solidFill>
              <a:srgbClr val="2A2A3D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65760" y="6071616"/>
            <a:ext cx="91440" cy="621792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75488" y="623620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R08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1078992" y="6117336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pos_fact_sales has both unit_cost_kes and retail_price_kes — margin calculable in-fact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6720840" y="6254496"/>
            <a:ext cx="868680" cy="237744"/>
          </a:xfrm>
          <a:prstGeom prst="roundRect">
            <a:avLst>
              <a:gd name="adj" fmla="val 15385"/>
            </a:avLst>
          </a:prstGeom>
          <a:solidFill>
            <a:srgbClr val="00FF88"/>
          </a:solidFill>
          <a:ln w="6350">
            <a:solidFill>
              <a:srgbClr val="00FF8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720840" y="625449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FF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7726680" y="6254496"/>
            <a:ext cx="841248" cy="237744"/>
          </a:xfrm>
          <a:prstGeom prst="roundRect">
            <a:avLst>
              <a:gd name="adj" fmla="val 15385"/>
            </a:avLst>
          </a:prstGeom>
          <a:solidFill>
            <a:srgbClr val="00FF88"/>
          </a:solidFill>
          <a:ln w="6350">
            <a:solidFill>
              <a:srgbClr val="00FF88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726680" y="6254496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FF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8641080" y="6117336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Acceptable for learning project. For production: remove retail_price_kes from fact, compute from dim_product.retail_price_kes.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03136"/>
            <a:ext cx="12161520" cy="54864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E8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Success Criteria &amp; Acceptance Criteria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9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we know the project is complete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12700">
            <a:solidFill>
              <a:srgbClr val="2A2A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43000"/>
            <a:ext cx="5715000" cy="1719072"/>
          </a:xfrm>
          <a:prstGeom prst="rect">
            <a:avLst/>
          </a:prstGeom>
          <a:solidFill>
            <a:srgbClr val="13131F"/>
          </a:solidFill>
          <a:ln w="19050">
            <a:solidFill>
              <a:srgbClr val="00F5FF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" y="1234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5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 Completeness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" y="1545336"/>
            <a:ext cx="5486400" cy="0"/>
          </a:xfrm>
          <a:prstGeom prst="line">
            <a:avLst/>
          </a:prstGeom>
          <a:noFill/>
          <a:ln w="6350">
            <a:solidFill>
              <a:srgbClr val="2A2A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" y="164592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F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13232" y="1645920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29 silver tables loaded to Gold with zero FAIL rows excluded unexpectedly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93776" y="1938528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F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13232" y="1938528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pos_fact_sales row count matches silver.pos_line_items (minus FAIL rows) — reconciliation query passes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93776" y="2231136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F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13232" y="2231136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surrogate keys are unique and non-NULL in every dimension table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93776" y="2523744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F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13232" y="2523744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SCD-2 date-range joins return exactly one dim row per fact row (no duplicates, no orphans)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291072" y="1143000"/>
            <a:ext cx="5715000" cy="1719072"/>
          </a:xfrm>
          <a:prstGeom prst="rect">
            <a:avLst/>
          </a:prstGeom>
          <a:solidFill>
            <a:srgbClr val="13131F"/>
          </a:solidFill>
          <a:ln w="19050">
            <a:solidFill>
              <a:srgbClr val="BF00FF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0" y="1234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F00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Relationship Integrity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0" y="1545336"/>
            <a:ext cx="5486400" cy="0"/>
          </a:xfrm>
          <a:prstGeom prst="line">
            <a:avLst/>
          </a:prstGeom>
          <a:noFill/>
          <a:ln w="6350">
            <a:solidFill>
              <a:srgbClr val="2A2A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19088" y="164592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F0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638544" y="1645920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rows with orphaned FKs (no fact row with a SK that has no matching dim row)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419088" y="1938528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F0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638544" y="1938528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date columns in all fact tables connected to dim_date (not LocalDateTable)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419088" y="2231136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F0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638544" y="2231136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dim_date correctly marked as Date Table in Power BI — DATESYTD() and SAMEPERIODLASTYEAR() work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419088" y="2523744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F0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638544" y="2523744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bidirectional relationships except bridge and junk dims where required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65760" y="2971800"/>
            <a:ext cx="5715000" cy="1719072"/>
          </a:xfrm>
          <a:prstGeom prst="rect">
            <a:avLst/>
          </a:prstGeom>
          <a:solidFill>
            <a:srgbClr val="13131F"/>
          </a:solidFill>
          <a:ln w="19050">
            <a:solidFill>
              <a:srgbClr val="FFD600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75488" y="3063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6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Financial Accuracy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" y="3374136"/>
            <a:ext cx="5486400" cy="0"/>
          </a:xfrm>
          <a:prstGeom prst="line">
            <a:avLst/>
          </a:prstGeom>
          <a:noFill/>
          <a:ln w="6350">
            <a:solidFill>
              <a:srgbClr val="2A2A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" y="347472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D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13232" y="3474720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SUM(pos_fact_sales.line_total_kes) reconciles to SUM(silver.store_daily_financials.sales_kes) ±1%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93776" y="3767328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D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13232" y="3767328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Gross profit = line_total_kes - cogs_kes (no negative margins without business justification)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93776" y="4059936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D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13232" y="4059936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Discount amounts reconcile: discount_rate × unit_price_kes = discount_amount_kes ±KES 1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93776" y="4352544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D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13232" y="4352544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Loyalty points_balance is non-negative for all active customers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291072" y="2971800"/>
            <a:ext cx="5715000" cy="1719072"/>
          </a:xfrm>
          <a:prstGeom prst="rect">
            <a:avLst/>
          </a:prstGeom>
          <a:solidFill>
            <a:srgbClr val="13131F"/>
          </a:solidFill>
          <a:ln w="19050">
            <a:solidFill>
              <a:srgbClr val="00FF88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400800" y="3063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F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Power BI Performance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400800" y="3374136"/>
            <a:ext cx="5486400" cy="0"/>
          </a:xfrm>
          <a:prstGeom prst="line">
            <a:avLst/>
          </a:prstGeom>
          <a:noFill/>
          <a:ln w="6350">
            <a:solidFill>
              <a:srgbClr val="2A2A3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19088" y="347472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FF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638544" y="3474720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dashboard card visuals (total revenue, margin, customer count) load in &lt;2 seconds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419088" y="3767328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FF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638544" y="3767328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5 data marts open and refresh without errors in Power BI Desktop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419088" y="4059936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FF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638544" y="4059936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YoY growth, YTD and SAMEPERIODLASTYEAR measures return correct values against known test dates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419088" y="4352544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FF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638544" y="4352544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Slicer cross-filtering works correctly across all fact tables in each mart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365760" y="4800600"/>
            <a:ext cx="5715000" cy="1719072"/>
          </a:xfrm>
          <a:prstGeom prst="rect">
            <a:avLst/>
          </a:prstGeom>
          <a:solidFill>
            <a:srgbClr val="13131F"/>
          </a:solidFill>
          <a:ln w="19050">
            <a:solidFill>
              <a:srgbClr val="FF6B00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475488" y="48920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Documentation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75488" y="5202936"/>
            <a:ext cx="5486400" cy="0"/>
          </a:xfrm>
          <a:prstGeom prst="line">
            <a:avLst/>
          </a:prstGeom>
          <a:noFill/>
          <a:ln w="6350">
            <a:solidFill>
              <a:srgbClr val="2A2A3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3776" y="530352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6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13232" y="5303520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Silver Layer Metadata Dictionary covers all 29 tables and every column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493776" y="5596128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6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13232" y="5596128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Gold Layer Blueprint documents all tables with declared grain, source tables and column definitions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493776" y="5888736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6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713232" y="5888736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 Matrix reflects actual model.bim relationships (not designed-state assumptions)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493776" y="6181344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6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713232" y="6181344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BRD is consistent with the model structure delivered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291072" y="4800600"/>
            <a:ext cx="5715000" cy="1719072"/>
          </a:xfrm>
          <a:prstGeom prst="rect">
            <a:avLst/>
          </a:prstGeom>
          <a:solidFill>
            <a:srgbClr val="13131F"/>
          </a:solidFill>
          <a:ln w="19050">
            <a:solidFill>
              <a:srgbClr val="FF2D6B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6400800" y="48920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2D6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Portfolio Readiness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6400800" y="5202936"/>
            <a:ext cx="5486400" cy="0"/>
          </a:xfrm>
          <a:prstGeom prst="line">
            <a:avLst/>
          </a:prstGeom>
          <a:noFill/>
          <a:ln w="6350">
            <a:solidFill>
              <a:srgbClr val="2A2A3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19088" y="530352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2D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638544" y="5303520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repository contains: bronze CSVs, silver SQL, gold SQL, .pbix files, all documentation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6419088" y="5596128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2D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6638544" y="5596128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README explains the project with architecture diagram screenshot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6419088" y="5888736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2D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6638544" y="5888736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 explain every design decision (why junk dim vs dim, why bridge for SCD-2, why factless)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6419088" y="6181344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2D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6638544" y="6181344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 walk an interviewer through all 5 data marts and the bus matrix in 10 minutes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0A14"/>
          </a:solidFill>
          <a:ln w="12700">
            <a:solidFill>
              <a:srgbClr val="0A0A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457200"/>
            <a:ext cx="5486400" cy="5486400"/>
          </a:xfrm>
          <a:prstGeom prst="ellipse">
            <a:avLst/>
          </a:prstGeom>
          <a:solidFill>
            <a:srgbClr val="BF00FF">
              <a:alpha val="7000"/>
            </a:srgbClr>
          </a:solidFill>
          <a:ln w="12700">
            <a:solidFill>
              <a:srgbClr val="BF00FF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1828800"/>
            <a:ext cx="3657600" cy="3657600"/>
          </a:xfrm>
          <a:prstGeom prst="ellipse">
            <a:avLst/>
          </a:prstGeom>
          <a:solidFill>
            <a:srgbClr val="00F5FF">
              <a:alpha val="6000"/>
            </a:srgbClr>
          </a:solidFill>
          <a:ln w="12700">
            <a:solidFill>
              <a:srgbClr val="00F5FF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F5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Project Summary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8E8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Blue Canopy Retail Analytics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5760" y="217627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F0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Requirements Document v1.0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651760"/>
            <a:ext cx="5486400" cy="0"/>
          </a:xfrm>
          <a:prstGeom prst="line">
            <a:avLst/>
          </a:prstGeom>
          <a:noFill/>
          <a:ln w="12700">
            <a:solidFill>
              <a:srgbClr val="2A2A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788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5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Architecture: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377440" y="27889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3-tier Medallion — Bronze → Silver → Gold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32278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5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Source Tables: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377440" y="322783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 tables across 9 business domains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36667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5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Gold Objects: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377440" y="366674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dims + 9 facts + 3 agg + 4 junk + 2 bridges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41056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5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 Marts: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377440" y="410565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Power BI semantic models with DAX measures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5760" y="45445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5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Modelling Concepts: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377440" y="45445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30+ patterns: SCD-2, junk, bridge, factless, accumulating snapshot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5760" y="4983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5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Documentation: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377440" y="49834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Metadata dict, blueprint, bus matrix, analytical questions, BRD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5760" y="54223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5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Technology: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377440" y="54223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 Server (server: junior, DB: Blue_canopy) + Power BI 2.139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5760" y="5861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5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Theme: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377440" y="586130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Blue Canopy Neon Dark — branded Power BI JSON theme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315200" y="1143000"/>
            <a:ext cx="4480560" cy="5349240"/>
          </a:xfrm>
          <a:prstGeom prst="rect">
            <a:avLst/>
          </a:prstGeom>
          <a:solidFill>
            <a:srgbClr val="13131F"/>
          </a:solidFill>
          <a:ln w="19050">
            <a:solidFill>
              <a:srgbClr val="00F5FF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498080" y="129844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5FF"/>
                </a:solidFill>
                <a:latin typeface="Segoe UI Semibold" pitchFamily="34" charset="0"/>
                <a:cs typeface="Segoe UI Semibold" pitchFamily="34" charset="-120"/>
              </a:rPr>
              <a:t>IN SUMMARY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498080" y="1847088"/>
            <a:ext cx="4114800" cy="0"/>
          </a:xfrm>
          <a:prstGeom prst="line">
            <a:avLst/>
          </a:prstGeom>
          <a:noFill/>
          <a:ln w="6350">
            <a:solidFill>
              <a:srgbClr val="2A2A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52360" y="1938528"/>
            <a:ext cx="4206240" cy="804672"/>
          </a:xfrm>
          <a:prstGeom prst="rect">
            <a:avLst/>
          </a:prstGeom>
          <a:solidFill>
            <a:srgbClr val="13131F"/>
          </a:solidFill>
          <a:ln w="19050">
            <a:solidFill>
              <a:srgbClr val="BF00FF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571232" y="1993392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"I designed a 3-tier Medallion Architecture in SQL Server — Bronze for raw data, Silver for cleaning, Gold for star schema analytics."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452360" y="2834640"/>
            <a:ext cx="4206240" cy="804672"/>
          </a:xfrm>
          <a:prstGeom prst="rect">
            <a:avLst/>
          </a:prstGeom>
          <a:solidFill>
            <a:srgbClr val="13131F"/>
          </a:solidFill>
          <a:ln w="19050">
            <a:solidFill>
              <a:srgbClr val="BF00FF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571232" y="2889504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"I implemented SCD Type 2 on products, stores and employees so historical reports use the price and role that was active at the time."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452360" y="3730752"/>
            <a:ext cx="4206240" cy="804672"/>
          </a:xfrm>
          <a:prstGeom prst="rect">
            <a:avLst/>
          </a:prstGeom>
          <a:solidFill>
            <a:srgbClr val="13131F"/>
          </a:solidFill>
          <a:ln w="19050">
            <a:solidFill>
              <a:srgbClr val="BF00FF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571232" y="3785616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"I built junk dimensions to consolidate low-cardinality flags, a factless fact for promotion coverage analysis, and an accumulating snapshot for PO lifecycle tracking."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452360" y="4626864"/>
            <a:ext cx="4206240" cy="804672"/>
          </a:xfrm>
          <a:prstGeom prst="rect">
            <a:avLst/>
          </a:prstGeom>
          <a:solidFill>
            <a:srgbClr val="13131F"/>
          </a:solidFill>
          <a:ln w="19050">
            <a:solidFill>
              <a:srgbClr val="BF00FF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571232" y="4681728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"I designed the Power BI semantic model with import mode, conformed dimensions, inactive relationships via USERELATIONSHIP(), and 5 subject-area data marts."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452360" y="5522976"/>
            <a:ext cx="4206240" cy="804672"/>
          </a:xfrm>
          <a:prstGeom prst="rect">
            <a:avLst/>
          </a:prstGeom>
          <a:solidFill>
            <a:srgbClr val="13131F"/>
          </a:solidFill>
          <a:ln w="19050">
            <a:solidFill>
              <a:srgbClr val="BF00FF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571232" y="557784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E8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"The project covers 9 business domains — I can walk you through any one of them: Sales, Customer, Inventory, Finance, HR, Marketing, CX, Competitor or Economic."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5417</Words>
  <Application>Microsoft Office PowerPoint</Application>
  <PresentationFormat>Widescreen</PresentationFormat>
  <Paragraphs>713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Courier New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JUNIOR KEVIN</cp:lastModifiedBy>
  <cp:revision>2</cp:revision>
  <dcterms:created xsi:type="dcterms:W3CDTF">2026-08-24T03:57:29Z</dcterms:created>
  <dcterms:modified xsi:type="dcterms:W3CDTF">2026-08-25T04:59:00Z</dcterms:modified>
</cp:coreProperties>
</file>